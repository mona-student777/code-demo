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1"/>
  </p:notesMasterIdLst>
  <p:sldIdLst>
    <p:sldId id="30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</p:sldIdLst>
  <p:sldSz cx="9144000" cy="6858000" type="screen4x3"/>
  <p:notesSz cx="9144000" cy="6858000"/>
  <p:embeddedFontLst>
    <p:embeddedFont>
      <p:font typeface="Alfa Slab One" panose="020B0604020202020204" charset="0"/>
      <p:regular r:id="rId52"/>
    </p:embeddedFont>
    <p:embeddedFont>
      <p:font typeface="Calibri" panose="020F0502020204030204" pitchFamily="34" charset="0"/>
      <p:regular r:id="rId53"/>
      <p:bold r:id="rId54"/>
      <p:italic r:id="rId55"/>
      <p:boldItalic r:id="rId56"/>
    </p:embeddedFont>
    <p:embeddedFont>
      <p:font typeface="Libre Baskerville" panose="02000000000000000000" pitchFamily="2" charset="0"/>
      <p:regular r:id="rId57"/>
      <p:bold r:id="rId58"/>
      <p:italic r:id="rId59"/>
    </p:embeddedFont>
    <p:embeddedFont>
      <p:font typeface="Lora" pitchFamily="2" charset="0"/>
      <p:regular r:id="rId60"/>
      <p:bold r:id="rId61"/>
      <p:italic r:id="rId62"/>
      <p:boldItalic r:id="rId63"/>
    </p:embeddedFont>
    <p:embeddedFont>
      <p:font typeface="Roboto" panose="02000000000000000000" pitchFamily="2" charset="0"/>
      <p:regular r:id="rId64"/>
      <p:bold r:id="rId65"/>
      <p:italic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8" roundtripDataSignature="AMtx7mi5O449G/uv4h+f8Q/HBBGff85r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D936C3-A35A-49E5-ACBA-07248AF7F898}">
  <a:tblStyle styleId="{90D936C3-A35A-49E5-ACBA-07248AF7F89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2.fntdata"/><Relationship Id="rId68" Type="http://customschemas.google.com/relationships/presentationmetadata" Target="meta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font" Target="fonts/font15.fntdata"/><Relationship Id="rId5" Type="http://schemas.openxmlformats.org/officeDocument/2006/relationships/slide" Target="slides/slide4.xml"/><Relationship Id="rId61" Type="http://schemas.openxmlformats.org/officeDocument/2006/relationships/font" Target="fonts/font10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64" Type="http://schemas.openxmlformats.org/officeDocument/2006/relationships/font" Target="fonts/font13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67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44" name="Google Shape;64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39530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p4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Workbooks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p9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Active cell and cells</a:t>
            </a:r>
            <a:endParaRPr/>
          </a:p>
        </p:txBody>
      </p:sp>
      <p:sp>
        <p:nvSpPr>
          <p:cNvPr id="199" name="Google Shape;199;p10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1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We can write different data in excel like text , numericaldata, dates, currency..etc by default text is left align.and numerical data is right align.</a:t>
            </a:r>
            <a:endParaRPr/>
          </a:p>
        </p:txBody>
      </p:sp>
      <p:sp>
        <p:nvSpPr>
          <p:cNvPr id="225" name="Google Shape;225;p1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3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p13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14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Navigation- movement(moving from one to other cells)</a:t>
            </a:r>
            <a:br>
              <a:rPr lang="en-IN"/>
            </a:br>
            <a:r>
              <a:rPr lang="en-IN"/>
              <a:t>Click ctrl +arrows to move from one data to end of another data another data&lt;-....-&gt;</a:t>
            </a:r>
            <a:br>
              <a:rPr lang="en-IN"/>
            </a:br>
            <a:r>
              <a:rPr lang="en-IN"/>
              <a:t>Ctrl+f to find</a:t>
            </a:r>
            <a:br>
              <a:rPr lang="en-IN"/>
            </a:br>
            <a:r>
              <a:rPr lang="en-IN"/>
              <a:t>3D plus is used to select the data and dragging.(the selected data cells is called range).</a:t>
            </a:r>
            <a:br>
              <a:rPr lang="en-IN"/>
            </a:br>
            <a:r>
              <a:rPr lang="en-IN"/>
              <a:t>Press shift and ctrl to select the full content but before see were your curser is placed.</a:t>
            </a:r>
            <a:br>
              <a:rPr lang="en-IN"/>
            </a:br>
            <a:br>
              <a:rPr lang="en-IN"/>
            </a:br>
            <a:endParaRPr/>
          </a:p>
        </p:txBody>
      </p:sp>
      <p:sp>
        <p:nvSpPr>
          <p:cNvPr id="247" name="Google Shape;247;p14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17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Selecting of more than one cell is known as range it can be from rows /column/cells.</a:t>
            </a:r>
            <a:endParaRPr/>
          </a:p>
        </p:txBody>
      </p:sp>
      <p:sp>
        <p:nvSpPr>
          <p:cNvPr id="271" name="Google Shape;271;p17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18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0" name="Google Shape;280;p18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19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Exchanging of data between ranges and cells is known as swap.</a:t>
            </a:r>
            <a:br>
              <a:rPr lang="en-IN"/>
            </a:br>
            <a:r>
              <a:rPr lang="en-IN"/>
              <a:t>Autofit:double click on the column line</a:t>
            </a:r>
            <a:br>
              <a:rPr lang="en-IN"/>
            </a:br>
            <a:endParaRPr/>
          </a:p>
        </p:txBody>
      </p:sp>
      <p:sp>
        <p:nvSpPr>
          <p:cNvPr id="291" name="Google Shape;291;p19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20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Dragging data by draggin the plus at the corner.</a:t>
            </a:r>
            <a:br>
              <a:rPr lang="en-IN"/>
            </a:br>
            <a:r>
              <a:rPr lang="en-IN"/>
              <a:t>Paste-copy the content and paste if you want to change the</a:t>
            </a:r>
            <a:r>
              <a:rPr lang="en-IN" b="1"/>
              <a:t> width</a:t>
            </a:r>
            <a:r>
              <a:rPr lang="en-IN"/>
              <a:t> click on ctrl option and select the changes required.</a:t>
            </a:r>
            <a:br>
              <a:rPr lang="en-IN"/>
            </a:br>
            <a:r>
              <a:rPr lang="en-IN"/>
              <a:t>Transpose in past:mean, median, mode.</a:t>
            </a:r>
            <a:br>
              <a:rPr lang="en-IN"/>
            </a:br>
            <a:r>
              <a:rPr lang="en-IN"/>
              <a:t>Format: only change the format no content is added. In the box.</a:t>
            </a:r>
            <a:br>
              <a:rPr lang="en-IN"/>
            </a:br>
            <a:br>
              <a:rPr lang="en-IN"/>
            </a:br>
            <a:endParaRPr/>
          </a:p>
        </p:txBody>
      </p:sp>
      <p:sp>
        <p:nvSpPr>
          <p:cNvPr id="321" name="Google Shape;321;p20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p2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swap:Exchanging of data between ranges and cells is known as swap.</a:t>
            </a:r>
            <a:br>
              <a:rPr lang="en-IN"/>
            </a:br>
            <a:r>
              <a:rPr lang="en-IN"/>
              <a:t>Select the number or text click ctrl +x at one side and other slide select the content and right click and you can see the option called insert cut sell the swap will take place.</a:t>
            </a:r>
            <a:r>
              <a:rPr lang="en-IN" b="1"/>
              <a:t>(right to left)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" name="Google Shape;331;p21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2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9" name="Google Shape;349;p2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p23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3" name="Google Shape;373;p23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p24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8" name="Google Shape;398;p24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p25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7" name="Google Shape;407;p25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p26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6" name="Google Shape;416;p26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p27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6" name="Google Shape;426;p27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p28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5" name="Google Shape;435;p28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" name="Google Shape;443;p29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4" name="Google Shape;444;p29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p30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2" name="Google Shape;452;p30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0" name="Google Shape;460;p3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1" name="Google Shape;461;p31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3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0" name="Google Shape;470;p3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33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9" name="Google Shape;479;p33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7" name="Google Shape;487;p34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8" name="Google Shape;488;p34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6" name="Google Shape;496;p35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7" name="Google Shape;497;p35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p36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6" name="Google Shape;506;p36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p37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5" name="Google Shape;515;p37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3" name="Google Shape;523;p38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4" name="Google Shape;524;p38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" name="Google Shape;532;p39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3" name="Google Shape;533;p39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3" name="Google Shape;543;p40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4" name="Google Shape;544;p40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" name="Google Shape;557;p4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8" name="Google Shape;558;p41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4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8" name="Google Shape;568;p4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7" name="Google Shape;577;p43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8" name="Google Shape;578;p43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6" name="Google Shape;586;p44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7" name="Google Shape;587;p44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6" name="Google Shape;596;p45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7" name="Google Shape;597;p45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6" name="Google Shape;606;p46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7" name="Google Shape;607;p46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6" name="Google Shape;616;p47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7" name="Google Shape;617;p47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6" name="Google Shape;626;p48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7" name="Google Shape;627;p48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5" name="Google Shape;635;p49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6" name="Google Shape;636;p49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44" name="Google Shape;64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5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7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7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9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59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5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0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0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0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6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1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2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2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4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4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4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4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4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png"/><Relationship Id="rId4" Type="http://schemas.openxmlformats.org/officeDocument/2006/relationships/image" Target="../media/image4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4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4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image" Target="../media/image4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image" Target="../media/image4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4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50"/>
          <p:cNvPicPr preferRelativeResize="0"/>
          <p:nvPr/>
        </p:nvPicPr>
        <p:blipFill rotWithShape="1">
          <a:blip r:embed="rId3">
            <a:alphaModFix/>
          </a:blip>
          <a:srcRect l="23738" r="14760"/>
          <a:stretch/>
        </p:blipFill>
        <p:spPr>
          <a:xfrm>
            <a:off x="680406" y="1320324"/>
            <a:ext cx="4217350" cy="4217352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647" name="Google Shape;647;p50"/>
          <p:cNvPicPr preferRelativeResize="0"/>
          <p:nvPr/>
        </p:nvPicPr>
        <p:blipFill rotWithShape="1">
          <a:blip r:embed="rId4">
            <a:alphaModFix/>
          </a:blip>
          <a:srcRect l="11092" r="13906" b="-2"/>
          <a:stretch/>
        </p:blipFill>
        <p:spPr>
          <a:xfrm>
            <a:off x="4692651" y="1574959"/>
            <a:ext cx="3708080" cy="3708083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231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162560" y="1149257"/>
            <a:ext cx="8564880" cy="1553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500"/>
              <a:buFont typeface="Calibri"/>
              <a:buNone/>
            </a:pPr>
            <a:r>
              <a:rPr lang="en-IN" b="1">
                <a:solidFill>
                  <a:srgbClr val="2F5496"/>
                </a:solidFill>
              </a:rPr>
              <a:t>Introduction to </a:t>
            </a:r>
            <a:br>
              <a:rPr lang="en-IN" b="1">
                <a:solidFill>
                  <a:srgbClr val="2F5496"/>
                </a:solidFill>
              </a:rPr>
            </a:br>
            <a:r>
              <a:rPr lang="en-IN" b="1">
                <a:solidFill>
                  <a:srgbClr val="2F5496"/>
                </a:solidFill>
              </a:rPr>
              <a:t>MS Excel</a:t>
            </a:r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l="9274" t="30771" r="9094" b="34966"/>
          <a:stretch/>
        </p:blipFill>
        <p:spPr>
          <a:xfrm>
            <a:off x="0" y="18926"/>
            <a:ext cx="1948159" cy="612566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l="23738" t="16982" r="14760" b="12408"/>
          <a:stretch/>
        </p:blipFill>
        <p:spPr>
          <a:xfrm>
            <a:off x="7835898" y="18926"/>
            <a:ext cx="1308102" cy="923642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45174" y="2885696"/>
            <a:ext cx="3399650" cy="339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603249" y="585813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000"/>
              <a:buFont typeface="Libre Baskerville"/>
              <a:buNone/>
            </a:pPr>
            <a:r>
              <a:rPr lang="en-IN" sz="4000">
                <a:solidFill>
                  <a:srgbClr val="2F549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Excel Program?</a:t>
            </a:r>
            <a:endParaRPr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l="9274" t="30771" r="9094" b="34966"/>
          <a:stretch/>
        </p:blipFill>
        <p:spPr>
          <a:xfrm>
            <a:off x="0" y="58998"/>
            <a:ext cx="1948159" cy="612566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4">
            <a:alphaModFix/>
          </a:blip>
          <a:srcRect l="23738" t="16982" r="14760" b="12408"/>
          <a:stretch/>
        </p:blipFill>
        <p:spPr>
          <a:xfrm>
            <a:off x="7835898" y="0"/>
            <a:ext cx="1308102" cy="923642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100" y="2167525"/>
            <a:ext cx="3114672" cy="2076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56374" y="1988188"/>
            <a:ext cx="3246822" cy="2435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456926" y="4446300"/>
            <a:ext cx="3246828" cy="2164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603249" y="585813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000"/>
              <a:buFont typeface="Libre Baskerville"/>
              <a:buNone/>
            </a:pPr>
            <a:r>
              <a:rPr lang="en-IN" sz="4000">
                <a:solidFill>
                  <a:srgbClr val="2F549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Excel Workbook</a:t>
            </a:r>
            <a:endParaRPr/>
          </a:p>
        </p:txBody>
      </p:sp>
      <p:pic>
        <p:nvPicPr>
          <p:cNvPr id="108" name="Google Shape;108;p3"/>
          <p:cNvPicPr preferRelativeResize="0"/>
          <p:nvPr/>
        </p:nvPicPr>
        <p:blipFill rotWithShape="1">
          <a:blip r:embed="rId3">
            <a:alphaModFix/>
          </a:blip>
          <a:srcRect l="9274" t="30771" r="9094" b="34966"/>
          <a:stretch/>
        </p:blipFill>
        <p:spPr>
          <a:xfrm>
            <a:off x="0" y="58998"/>
            <a:ext cx="1948159" cy="612566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109" name="Google Shape;109;p3"/>
          <p:cNvPicPr preferRelativeResize="0"/>
          <p:nvPr/>
        </p:nvPicPr>
        <p:blipFill rotWithShape="1">
          <a:blip r:embed="rId4">
            <a:alphaModFix/>
          </a:blip>
          <a:srcRect l="23738" t="16982" r="14760" b="12408"/>
          <a:stretch/>
        </p:blipFill>
        <p:spPr>
          <a:xfrm>
            <a:off x="7835898" y="0"/>
            <a:ext cx="1308102" cy="923642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10" name="Google Shape;110;p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IN"/>
              <a:t>A workbook is used to record &amp; manipulate large amount of data including numerical info &amp; share it with others in varied forms as we want.</a:t>
            </a:r>
            <a:endParaRPr/>
          </a:p>
          <a:p>
            <a:pPr marL="171450" lvl="0" indent="-171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Many other software are designed for the same purpose, like – Lotus 123, KOffice KSpread, Gnome Office Spreadsheet Gnumeric, etc.</a:t>
            </a:r>
            <a:endParaRPr/>
          </a:p>
          <a:p>
            <a:pPr marL="171450" lvl="0" indent="-171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But, we shall deal with the popular one - MS Excel</a:t>
            </a:r>
            <a:endParaRPr/>
          </a:p>
          <a:p>
            <a:pPr marL="17145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l="9274" t="30771" r="9094" b="34966"/>
          <a:stretch/>
        </p:blipFill>
        <p:spPr>
          <a:xfrm>
            <a:off x="0" y="9302"/>
            <a:ext cx="1948159" cy="612566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117" name="Google Shape;117;p4"/>
          <p:cNvPicPr preferRelativeResize="0"/>
          <p:nvPr/>
        </p:nvPicPr>
        <p:blipFill rotWithShape="1">
          <a:blip r:embed="rId4">
            <a:alphaModFix/>
          </a:blip>
          <a:srcRect l="23738" t="16982" r="14760" b="12408"/>
          <a:stretch/>
        </p:blipFill>
        <p:spPr>
          <a:xfrm>
            <a:off x="7835898" y="9303"/>
            <a:ext cx="1308102" cy="821208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18" name="Google Shape;118;p4"/>
          <p:cNvSpPr txBox="1"/>
          <p:nvPr/>
        </p:nvSpPr>
        <p:spPr>
          <a:xfrm>
            <a:off x="2588925" y="485313"/>
            <a:ext cx="440472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Topics We Cover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p4"/>
          <p:cNvGrpSpPr/>
          <p:nvPr/>
        </p:nvGrpSpPr>
        <p:grpSpPr>
          <a:xfrm>
            <a:off x="716638" y="1316907"/>
            <a:ext cx="7744075" cy="5363387"/>
            <a:chOff x="-33375" y="573"/>
            <a:chExt cx="7744075" cy="5363387"/>
          </a:xfrm>
        </p:grpSpPr>
        <p:cxnSp>
          <p:nvCxnSpPr>
            <p:cNvPr id="120" name="Google Shape;120;p4"/>
            <p:cNvCxnSpPr/>
            <p:nvPr/>
          </p:nvCxnSpPr>
          <p:spPr>
            <a:xfrm>
              <a:off x="0" y="573"/>
              <a:ext cx="7710700" cy="0"/>
            </a:xfrm>
            <a:prstGeom prst="straightConnector1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1" name="Google Shape;121;p4"/>
            <p:cNvSpPr/>
            <p:nvPr/>
          </p:nvSpPr>
          <p:spPr>
            <a:xfrm>
              <a:off x="0" y="573"/>
              <a:ext cx="7710700" cy="6704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4"/>
            <p:cNvSpPr txBox="1"/>
            <p:nvPr/>
          </p:nvSpPr>
          <p:spPr>
            <a:xfrm>
              <a:off x="0" y="573"/>
              <a:ext cx="7710700" cy="6704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IN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Why spreadsheet?				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3" name="Google Shape;123;p4"/>
            <p:cNvCxnSpPr/>
            <p:nvPr/>
          </p:nvCxnSpPr>
          <p:spPr>
            <a:xfrm>
              <a:off x="0" y="670987"/>
              <a:ext cx="7710700" cy="0"/>
            </a:xfrm>
            <a:prstGeom prst="straightConnector1">
              <a:avLst/>
            </a:prstGeom>
            <a:solidFill>
              <a:schemeClr val="accent3"/>
            </a:solidFill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4" name="Google Shape;124;p4"/>
            <p:cNvSpPr/>
            <p:nvPr/>
          </p:nvSpPr>
          <p:spPr>
            <a:xfrm>
              <a:off x="0" y="670987"/>
              <a:ext cx="7710700" cy="6704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0" y="670987"/>
              <a:ext cx="7710700" cy="6704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IN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Getting started with Excel - Opening, Interface, Saving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4"/>
            <p:cNvCxnSpPr/>
            <p:nvPr/>
          </p:nvCxnSpPr>
          <p:spPr>
            <a:xfrm>
              <a:off x="0" y="1341402"/>
              <a:ext cx="7710700" cy="0"/>
            </a:xfrm>
            <a:prstGeom prst="straightConnector1">
              <a:avLst/>
            </a:prstGeom>
            <a:solidFill>
              <a:schemeClr val="accent4"/>
            </a:solidFill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7" name="Google Shape;127;p4"/>
            <p:cNvSpPr/>
            <p:nvPr/>
          </p:nvSpPr>
          <p:spPr>
            <a:xfrm>
              <a:off x="0" y="1341402"/>
              <a:ext cx="7710700" cy="6704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"/>
            <p:cNvSpPr txBox="1"/>
            <p:nvPr/>
          </p:nvSpPr>
          <p:spPr>
            <a:xfrm>
              <a:off x="0" y="1341402"/>
              <a:ext cx="7710700" cy="6704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IN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Entering data - Intro to new terminology, text, numbers, dates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9" name="Google Shape;129;p4"/>
            <p:cNvCxnSpPr/>
            <p:nvPr/>
          </p:nvCxnSpPr>
          <p:spPr>
            <a:xfrm>
              <a:off x="0" y="2011816"/>
              <a:ext cx="7710700" cy="0"/>
            </a:xfrm>
            <a:prstGeom prst="straightConnector1">
              <a:avLst/>
            </a:prstGeom>
            <a:solidFill>
              <a:srgbClr val="599BD5"/>
            </a:solidFill>
            <a:ln w="12700" cap="flat" cmpd="sng">
              <a:solidFill>
                <a:srgbClr val="599BD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30" name="Google Shape;130;p4"/>
            <p:cNvSpPr/>
            <p:nvPr/>
          </p:nvSpPr>
          <p:spPr>
            <a:xfrm>
              <a:off x="0" y="2011816"/>
              <a:ext cx="7710700" cy="6704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0" y="2011816"/>
              <a:ext cx="7710700" cy="6704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IN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Modifying Excel sheet - Autofit, Wrap text, Inserting &amp; deleting, adjusting width &amp; height, hide &amp; Unhide, Freeze, Filter &amp; Sort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2" name="Google Shape;132;p4"/>
            <p:cNvCxnSpPr/>
            <p:nvPr/>
          </p:nvCxnSpPr>
          <p:spPr>
            <a:xfrm>
              <a:off x="0" y="2682231"/>
              <a:ext cx="7710700" cy="0"/>
            </a:xfrm>
            <a:prstGeom prst="straightConnector1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33" name="Google Shape;133;p4"/>
            <p:cNvSpPr/>
            <p:nvPr/>
          </p:nvSpPr>
          <p:spPr>
            <a:xfrm>
              <a:off x="0" y="2682231"/>
              <a:ext cx="7710700" cy="6704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4"/>
            <p:cNvSpPr txBox="1"/>
            <p:nvPr/>
          </p:nvSpPr>
          <p:spPr>
            <a:xfrm>
              <a:off x="0" y="2682231"/>
              <a:ext cx="7710700" cy="6704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IN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Formatting Data – Font, Background color, Borders, Merge &amp; Center,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IN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5" name="Google Shape;135;p4"/>
            <p:cNvCxnSpPr/>
            <p:nvPr/>
          </p:nvCxnSpPr>
          <p:spPr>
            <a:xfrm>
              <a:off x="0" y="3352645"/>
              <a:ext cx="7710700" cy="0"/>
            </a:xfrm>
            <a:prstGeom prst="straightConnector1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36" name="Google Shape;136;p4"/>
            <p:cNvSpPr/>
            <p:nvPr/>
          </p:nvSpPr>
          <p:spPr>
            <a:xfrm>
              <a:off x="0" y="3352645"/>
              <a:ext cx="7710700" cy="6704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0" y="4023070"/>
              <a:ext cx="7710600" cy="6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IN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Creating Charts – Chart Ribbon, Modifying data in chart, Formatting a chart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8" name="Google Shape;138;p4"/>
            <p:cNvCxnSpPr/>
            <p:nvPr/>
          </p:nvCxnSpPr>
          <p:spPr>
            <a:xfrm>
              <a:off x="0" y="4023060"/>
              <a:ext cx="7710700" cy="0"/>
            </a:xfrm>
            <a:prstGeom prst="straightConnector1">
              <a:avLst/>
            </a:prstGeom>
            <a:solidFill>
              <a:schemeClr val="accent3"/>
            </a:solidFill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39" name="Google Shape;139;p4"/>
            <p:cNvSpPr/>
            <p:nvPr/>
          </p:nvSpPr>
          <p:spPr>
            <a:xfrm>
              <a:off x="0" y="4023060"/>
              <a:ext cx="7710700" cy="6704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-33375" y="4693460"/>
              <a:ext cx="7710600" cy="6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IN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 txBox="1"/>
          <p:nvPr/>
        </p:nvSpPr>
        <p:spPr>
          <a:xfrm>
            <a:off x="840888" y="4673790"/>
            <a:ext cx="77106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basic  formulas &amp; functions - Autosum, Formula arguments window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3106100" y="630450"/>
            <a:ext cx="419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>
            <a:spLocks noGrp="1"/>
          </p:cNvSpPr>
          <p:nvPr>
            <p:ph type="title"/>
          </p:nvPr>
        </p:nvSpPr>
        <p:spPr>
          <a:xfrm>
            <a:off x="603249" y="585813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000"/>
              <a:buFont typeface="Libre Baskerville"/>
              <a:buNone/>
            </a:pPr>
            <a:r>
              <a:rPr lang="en-IN" sz="4000">
                <a:solidFill>
                  <a:srgbClr val="2F549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Norms for the session</a:t>
            </a:r>
            <a:endParaRPr/>
          </a:p>
        </p:txBody>
      </p:sp>
      <p:pic>
        <p:nvPicPr>
          <p:cNvPr id="148" name="Google Shape;148;p5"/>
          <p:cNvPicPr preferRelativeResize="0"/>
          <p:nvPr/>
        </p:nvPicPr>
        <p:blipFill rotWithShape="1">
          <a:blip r:embed="rId3">
            <a:alphaModFix/>
          </a:blip>
          <a:srcRect l="9274" t="30771" r="9094" b="34966"/>
          <a:stretch/>
        </p:blipFill>
        <p:spPr>
          <a:xfrm>
            <a:off x="0" y="58998"/>
            <a:ext cx="1948159" cy="612566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149" name="Google Shape;149;p5"/>
          <p:cNvPicPr preferRelativeResize="0"/>
          <p:nvPr/>
        </p:nvPicPr>
        <p:blipFill rotWithShape="1">
          <a:blip r:embed="rId4">
            <a:alphaModFix/>
          </a:blip>
          <a:srcRect l="23738" t="16982" r="14760" b="12408"/>
          <a:stretch/>
        </p:blipFill>
        <p:spPr>
          <a:xfrm>
            <a:off x="7835898" y="0"/>
            <a:ext cx="1308102" cy="923642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50" name="Google Shape;150;p5"/>
          <p:cNvSpPr txBox="1"/>
          <p:nvPr/>
        </p:nvSpPr>
        <p:spPr>
          <a:xfrm>
            <a:off x="712413" y="1645909"/>
            <a:ext cx="7777536" cy="4947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AutoNum type="arabicPeriod"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Eyes on the ppt for the instructions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AutoNum type="arabicPeriod"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Notice &amp; listen to the instructor while I perform the task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AutoNum type="arabicPeriod"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 the task in your desktops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AutoNum type="arabicPeriod"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Takes turns in operating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AutoNum type="arabicPeriod"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Raise hands in case of any doubts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AutoNum type="arabicPeriod"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your group is done please patiently wait for other to finish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AutoNum type="arabicPeriod"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After performing each task please notice the below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AutoNum type="alphaLcPeriod"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the task?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AutoNum type="alphaLcPeriod"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Steps &amp; terminology involved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AutoNum type="alphaLcPeriod"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Connection between the task &amp; the respective operating path in the ribbon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6"/>
          <p:cNvPicPr preferRelativeResize="0"/>
          <p:nvPr/>
        </p:nvPicPr>
        <p:blipFill rotWithShape="1">
          <a:blip r:embed="rId3">
            <a:alphaModFix/>
          </a:blip>
          <a:srcRect l="9274" t="30771" r="9094" b="34966"/>
          <a:stretch/>
        </p:blipFill>
        <p:spPr>
          <a:xfrm>
            <a:off x="-24064" y="58998"/>
            <a:ext cx="1948159" cy="612566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156" name="Google Shape;156;p6"/>
          <p:cNvPicPr preferRelativeResize="0"/>
          <p:nvPr/>
        </p:nvPicPr>
        <p:blipFill rotWithShape="1">
          <a:blip r:embed="rId4">
            <a:alphaModFix/>
          </a:blip>
          <a:srcRect l="23738" t="16982" r="14760" b="12408"/>
          <a:stretch/>
        </p:blipFill>
        <p:spPr>
          <a:xfrm>
            <a:off x="7835898" y="0"/>
            <a:ext cx="1308102" cy="923642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57" name="Google Shape;157;p6"/>
          <p:cNvSpPr txBox="1"/>
          <p:nvPr/>
        </p:nvSpPr>
        <p:spPr>
          <a:xfrm>
            <a:off x="788293" y="1002453"/>
            <a:ext cx="786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Programs/Apps &gt; Excel &gt; Open &gt; </a:t>
            </a:r>
            <a:r>
              <a:rPr lang="en-I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Excel Interface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6"/>
          <p:cNvPicPr preferRelativeResize="0"/>
          <p:nvPr/>
        </p:nvPicPr>
        <p:blipFill rotWithShape="1">
          <a:blip r:embed="rId5">
            <a:alphaModFix/>
          </a:blip>
          <a:srcRect r="38498"/>
          <a:stretch/>
        </p:blipFill>
        <p:spPr>
          <a:xfrm>
            <a:off x="544825" y="1702675"/>
            <a:ext cx="6705424" cy="49439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6"/>
          <p:cNvGrpSpPr/>
          <p:nvPr/>
        </p:nvGrpSpPr>
        <p:grpSpPr>
          <a:xfrm>
            <a:off x="544822" y="3911208"/>
            <a:ext cx="4528814" cy="2443243"/>
            <a:chOff x="1697218" y="3978935"/>
            <a:chExt cx="4528814" cy="2443243"/>
          </a:xfrm>
        </p:grpSpPr>
        <p:sp>
          <p:nvSpPr>
            <p:cNvPr id="160" name="Google Shape;160;p6"/>
            <p:cNvSpPr/>
            <p:nvPr/>
          </p:nvSpPr>
          <p:spPr>
            <a:xfrm>
              <a:off x="5731332" y="4933977"/>
              <a:ext cx="494700" cy="360000"/>
            </a:xfrm>
            <a:prstGeom prst="rect">
              <a:avLst/>
            </a:prstGeom>
            <a:solidFill>
              <a:srgbClr val="E71224">
                <a:alpha val="4313"/>
              </a:srgbClr>
            </a:solidFill>
            <a:ln w="18000" cap="flat" cmpd="sng">
              <a:solidFill>
                <a:srgbClr val="E7122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IN" sz="1800" b="1" i="0" u="none" strike="noStrike" cap="none">
                  <a:solidFill>
                    <a:srgbClr val="0C0C0C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3995067" y="3978935"/>
              <a:ext cx="720000" cy="360000"/>
            </a:xfrm>
            <a:prstGeom prst="rect">
              <a:avLst/>
            </a:prstGeom>
            <a:solidFill>
              <a:srgbClr val="E71224">
                <a:alpha val="4313"/>
              </a:srgbClr>
            </a:solidFill>
            <a:ln w="18000" cap="flat" cmpd="sng">
              <a:solidFill>
                <a:srgbClr val="E7122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IN" sz="1800" b="1" i="0" u="none" strike="noStrike" cap="none">
                  <a:solidFill>
                    <a:srgbClr val="0C0C0C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1697218" y="6052878"/>
              <a:ext cx="494700" cy="369300"/>
            </a:xfrm>
            <a:prstGeom prst="rect">
              <a:avLst/>
            </a:prstGeom>
            <a:solidFill>
              <a:schemeClr val="lt1"/>
            </a:solidFill>
            <a:ln w="18000" cap="flat" cmpd="sng">
              <a:solidFill>
                <a:srgbClr val="E7122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IN" sz="18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" name="Google Shape;163;p6"/>
          <p:cNvSpPr txBox="1">
            <a:spLocks noGrp="1"/>
          </p:cNvSpPr>
          <p:nvPr>
            <p:ph type="title"/>
          </p:nvPr>
        </p:nvSpPr>
        <p:spPr>
          <a:xfrm>
            <a:off x="1133152" y="293800"/>
            <a:ext cx="7618800" cy="7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960"/>
              <a:buFont typeface="Libre Baskerville"/>
              <a:buNone/>
            </a:pPr>
            <a:r>
              <a:rPr lang="en-IN" sz="3259" b="1">
                <a:solidFill>
                  <a:srgbClr val="2F549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Getting started with Excel</a:t>
            </a:r>
            <a:br>
              <a:rPr lang="en-IN" sz="920"/>
            </a:br>
            <a:r>
              <a:rPr lang="en-IN" sz="920"/>
              <a:t> </a:t>
            </a:r>
            <a:endParaRPr sz="2270" b="1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 txBox="1">
            <a:spLocks noGrp="1"/>
          </p:cNvSpPr>
          <p:nvPr>
            <p:ph type="body" idx="1"/>
          </p:nvPr>
        </p:nvSpPr>
        <p:spPr>
          <a:xfrm>
            <a:off x="480767" y="765674"/>
            <a:ext cx="8220173" cy="5917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800"/>
              <a:t>Open Word &gt; in the left pane, select </a:t>
            </a:r>
            <a:r>
              <a:rPr lang="en-IN" sz="1800" b="1"/>
              <a:t>New &gt; </a:t>
            </a:r>
            <a:r>
              <a:rPr lang="en-IN" sz="1800"/>
              <a:t>Select an option:</a:t>
            </a:r>
            <a:endParaRPr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800"/>
              <a:t>To create a </a:t>
            </a:r>
            <a:r>
              <a:rPr lang="en-IN"/>
              <a:t>new worksheet</a:t>
            </a:r>
            <a:r>
              <a:rPr lang="en-IN" sz="1800"/>
              <a:t> from scratch, select </a:t>
            </a:r>
            <a:r>
              <a:rPr lang="en-IN" sz="1800" b="1"/>
              <a:t>Blank </a:t>
            </a:r>
            <a:r>
              <a:rPr lang="en-IN" b="1"/>
              <a:t>workbook</a:t>
            </a:r>
            <a:r>
              <a:rPr lang="en-IN" sz="1800"/>
              <a:t>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pic>
        <p:nvPicPr>
          <p:cNvPr id="169" name="Google Shape;169;p7"/>
          <p:cNvPicPr preferRelativeResize="0"/>
          <p:nvPr/>
        </p:nvPicPr>
        <p:blipFill rotWithShape="1">
          <a:blip r:embed="rId3">
            <a:alphaModFix/>
          </a:blip>
          <a:srcRect l="9274" t="30771" r="9094" b="34966"/>
          <a:stretch/>
        </p:blipFill>
        <p:spPr>
          <a:xfrm>
            <a:off x="0" y="58998"/>
            <a:ext cx="1948159" cy="612566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170" name="Google Shape;170;p7"/>
          <p:cNvPicPr preferRelativeResize="0"/>
          <p:nvPr/>
        </p:nvPicPr>
        <p:blipFill rotWithShape="1">
          <a:blip r:embed="rId4">
            <a:alphaModFix/>
          </a:blip>
          <a:srcRect l="23738" t="16982" r="14760" b="12408"/>
          <a:stretch/>
        </p:blipFill>
        <p:spPr>
          <a:xfrm>
            <a:off x="7835898" y="0"/>
            <a:ext cx="1308102" cy="923642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71" name="Google Shape;171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314017" y="2863972"/>
            <a:ext cx="3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167337" y="1134532"/>
            <a:ext cx="3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4053" y="1683791"/>
            <a:ext cx="7835900" cy="5247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 txBox="1">
            <a:spLocks noGrp="1"/>
          </p:cNvSpPr>
          <p:nvPr>
            <p:ph type="title"/>
          </p:nvPr>
        </p:nvSpPr>
        <p:spPr>
          <a:xfrm>
            <a:off x="628650" y="692717"/>
            <a:ext cx="7777931" cy="1224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/>
              <a:t>Excel Interface</a:t>
            </a:r>
            <a:endParaRPr/>
          </a:p>
        </p:txBody>
      </p:sp>
      <p:pic>
        <p:nvPicPr>
          <p:cNvPr id="179" name="Google Shape;179;p8"/>
          <p:cNvPicPr preferRelativeResize="0"/>
          <p:nvPr/>
        </p:nvPicPr>
        <p:blipFill rotWithShape="1">
          <a:blip r:embed="rId3">
            <a:alphaModFix/>
          </a:blip>
          <a:srcRect l="9274" t="30771" r="9094" b="34966"/>
          <a:stretch/>
        </p:blipFill>
        <p:spPr>
          <a:xfrm>
            <a:off x="0" y="-17186"/>
            <a:ext cx="1948159" cy="612566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180" name="Google Shape;180;p8"/>
          <p:cNvPicPr preferRelativeResize="0"/>
          <p:nvPr/>
        </p:nvPicPr>
        <p:blipFill rotWithShape="1">
          <a:blip r:embed="rId4">
            <a:alphaModFix/>
          </a:blip>
          <a:srcRect l="23738" t="16982" r="14760" b="12408"/>
          <a:stretch/>
        </p:blipFill>
        <p:spPr>
          <a:xfrm>
            <a:off x="7639789" y="58998"/>
            <a:ext cx="1308102" cy="923642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81" name="Google Shape;181;p8"/>
          <p:cNvSpPr txBox="1"/>
          <p:nvPr/>
        </p:nvSpPr>
        <p:spPr>
          <a:xfrm>
            <a:off x="4645316" y="3870456"/>
            <a:ext cx="1077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031825" y="1924250"/>
            <a:ext cx="7374600" cy="612600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8"/>
          <p:cNvCxnSpPr>
            <a:endCxn id="184" idx="0"/>
          </p:cNvCxnSpPr>
          <p:nvPr/>
        </p:nvCxnSpPr>
        <p:spPr>
          <a:xfrm flipH="1">
            <a:off x="4572000" y="830453"/>
            <a:ext cx="190800" cy="8667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84" name="Google Shape;184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697153"/>
            <a:ext cx="9144000" cy="465438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 txBox="1"/>
          <p:nvPr/>
        </p:nvSpPr>
        <p:spPr>
          <a:xfrm>
            <a:off x="2949677" y="3870456"/>
            <a:ext cx="698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799575" y="1952850"/>
            <a:ext cx="7607100" cy="612600"/>
          </a:xfrm>
          <a:prstGeom prst="rect">
            <a:avLst/>
          </a:prstGeom>
          <a:noFill/>
          <a:ln w="9525" cap="flat" cmpd="sng">
            <a:solidFill>
              <a:srgbClr val="E712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 txBox="1"/>
          <p:nvPr/>
        </p:nvSpPr>
        <p:spPr>
          <a:xfrm>
            <a:off x="2413300" y="560600"/>
            <a:ext cx="3659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IN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Cell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9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194" name="Google Shape;194;p9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95" name="Google Shape;195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4513" y="1261975"/>
            <a:ext cx="7054966" cy="5291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/>
          <p:nvPr/>
        </p:nvSpPr>
        <p:spPr>
          <a:xfrm>
            <a:off x="2521775" y="148813"/>
            <a:ext cx="3659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IN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10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203" name="Google Shape;203;p10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204" name="Google Shape;204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6925" y="934833"/>
            <a:ext cx="7491156" cy="561836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0"/>
          <p:cNvSpPr/>
          <p:nvPr/>
        </p:nvSpPr>
        <p:spPr>
          <a:xfrm rot="5837">
            <a:off x="1757840" y="2311821"/>
            <a:ext cx="353401" cy="329400"/>
          </a:xfrm>
          <a:prstGeom prst="wedgeEllipseCallout">
            <a:avLst>
              <a:gd name="adj1" fmla="val -321156"/>
              <a:gd name="adj2" fmla="val 51672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/>
          <p:nvPr/>
        </p:nvSpPr>
        <p:spPr>
          <a:xfrm rot="-178008">
            <a:off x="1757831" y="2922250"/>
            <a:ext cx="353574" cy="329576"/>
          </a:xfrm>
          <a:prstGeom prst="wedgeEllipseCallout">
            <a:avLst>
              <a:gd name="adj1" fmla="val -175198"/>
              <a:gd name="adj2" fmla="val -50676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 rot="8755">
            <a:off x="304955" y="4332282"/>
            <a:ext cx="353401" cy="329700"/>
          </a:xfrm>
          <a:prstGeom prst="wedgeEllipseCallout">
            <a:avLst>
              <a:gd name="adj1" fmla="val 2941"/>
              <a:gd name="adj2" fmla="val -156084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"/>
          <p:cNvSpPr txBox="1">
            <a:spLocks noGrp="1"/>
          </p:cNvSpPr>
          <p:nvPr>
            <p:ph type="title"/>
          </p:nvPr>
        </p:nvSpPr>
        <p:spPr>
          <a:xfrm>
            <a:off x="628839" y="386159"/>
            <a:ext cx="8319052" cy="1576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IN" sz="1600" b="1"/>
              <a:t>	</a:t>
            </a:r>
            <a:br>
              <a:rPr lang="en-IN" sz="1600" b="1"/>
            </a:br>
            <a:br>
              <a:rPr lang="en-IN" sz="1600" b="1"/>
            </a:br>
            <a:r>
              <a:rPr lang="en-IN" sz="1600" b="1"/>
              <a:t>		</a:t>
            </a:r>
            <a:r>
              <a:rPr lang="en-IN" sz="1600">
                <a:latin typeface="Arial"/>
                <a:ea typeface="Arial"/>
                <a:cs typeface="Arial"/>
                <a:sym typeface="Arial"/>
              </a:rPr>
              <a:t>Save the workbook – Save &amp; Save As from File Tab. </a:t>
            </a:r>
            <a:br>
              <a:rPr lang="en-IN" sz="1600">
                <a:latin typeface="Arial"/>
                <a:ea typeface="Arial"/>
                <a:cs typeface="Arial"/>
                <a:sym typeface="Arial"/>
              </a:rPr>
            </a:br>
            <a:br>
              <a:rPr lang="en-IN" sz="1600">
                <a:latin typeface="Calibri"/>
                <a:ea typeface="Calibri"/>
                <a:cs typeface="Calibri"/>
                <a:sym typeface="Calibri"/>
              </a:rPr>
            </a:br>
            <a:r>
              <a:rPr lang="en-IN" sz="1600" b="1"/>
              <a:t>Save</a:t>
            </a:r>
            <a:r>
              <a:rPr lang="en-IN" sz="1600"/>
              <a:t> – To store the current open workbook as a file. If the file has not been saved yet, prompts for a filename. Same as Quick Save. Crtl+S.</a:t>
            </a:r>
            <a:br>
              <a:rPr lang="en-IN" sz="1600"/>
            </a:br>
            <a:r>
              <a:rPr lang="en-IN" sz="1600" b="1"/>
              <a:t>Save As </a:t>
            </a:r>
            <a:r>
              <a:rPr lang="en-IN" sz="1600"/>
              <a:t>– To store the current open workbook with a new name or location. </a:t>
            </a:r>
            <a:br>
              <a:rPr lang="en-IN" sz="1600"/>
            </a:br>
            <a:r>
              <a:rPr lang="en-IN" sz="1600" b="1"/>
              <a:t>File Extension </a:t>
            </a:r>
            <a:r>
              <a:rPr lang="en-IN" sz="1600"/>
              <a:t>(basic)</a:t>
            </a:r>
            <a:r>
              <a:rPr lang="en-IN" sz="1600" b="1"/>
              <a:t> - </a:t>
            </a:r>
            <a:r>
              <a:rPr lang="en-IN" sz="1600"/>
              <a:t>.xls or .xlsx</a:t>
            </a:r>
            <a:br>
              <a:rPr lang="en-IN" sz="1600"/>
            </a:br>
            <a:endParaRPr sz="1600"/>
          </a:p>
        </p:txBody>
      </p:sp>
      <p:pic>
        <p:nvPicPr>
          <p:cNvPr id="213" name="Google Shape;213;p11"/>
          <p:cNvPicPr preferRelativeResize="0"/>
          <p:nvPr/>
        </p:nvPicPr>
        <p:blipFill rotWithShape="1">
          <a:blip r:embed="rId3">
            <a:alphaModFix/>
          </a:blip>
          <a:srcRect l="9274" t="30771" r="9094" b="34966"/>
          <a:stretch/>
        </p:blipFill>
        <p:spPr>
          <a:xfrm>
            <a:off x="-12032" y="0"/>
            <a:ext cx="1948159" cy="612566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214" name="Google Shape;214;p11"/>
          <p:cNvPicPr preferRelativeResize="0"/>
          <p:nvPr/>
        </p:nvPicPr>
        <p:blipFill rotWithShape="1">
          <a:blip r:embed="rId4">
            <a:alphaModFix/>
          </a:blip>
          <a:srcRect l="23738" t="16982" r="14760" b="12408"/>
          <a:stretch/>
        </p:blipFill>
        <p:spPr>
          <a:xfrm>
            <a:off x="7639789" y="58998"/>
            <a:ext cx="1308102" cy="923642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15" name="Google Shape;215;p11"/>
          <p:cNvSpPr/>
          <p:nvPr/>
        </p:nvSpPr>
        <p:spPr>
          <a:xfrm>
            <a:off x="528840" y="3585960"/>
            <a:ext cx="900000" cy="540000"/>
          </a:xfrm>
          <a:prstGeom prst="rect">
            <a:avLst/>
          </a:prstGeom>
          <a:solidFill>
            <a:srgbClr val="000000">
              <a:alpha val="4313"/>
            </a:srgbClr>
          </a:solidFill>
          <a:ln w="180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5856" y="2115352"/>
            <a:ext cx="5065671" cy="474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1"/>
          <p:cNvSpPr/>
          <p:nvPr/>
        </p:nvSpPr>
        <p:spPr>
          <a:xfrm>
            <a:off x="6187643" y="6169925"/>
            <a:ext cx="1308000" cy="540000"/>
          </a:xfrm>
          <a:prstGeom prst="rect">
            <a:avLst/>
          </a:prstGeom>
          <a:solidFill>
            <a:srgbClr val="000000">
              <a:alpha val="4313"/>
            </a:srgbClr>
          </a:solidFill>
          <a:ln w="180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3812132" y="3585950"/>
            <a:ext cx="570300" cy="360000"/>
          </a:xfrm>
          <a:prstGeom prst="rect">
            <a:avLst/>
          </a:prstGeom>
          <a:solidFill>
            <a:srgbClr val="000000">
              <a:alpha val="4313"/>
            </a:srgbClr>
          </a:solidFill>
          <a:ln w="180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82425" y="2542150"/>
            <a:ext cx="4761575" cy="416776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1"/>
          <p:cNvSpPr/>
          <p:nvPr/>
        </p:nvSpPr>
        <p:spPr>
          <a:xfrm>
            <a:off x="858557" y="4691700"/>
            <a:ext cx="570300" cy="360000"/>
          </a:xfrm>
          <a:prstGeom prst="rect">
            <a:avLst/>
          </a:prstGeom>
          <a:solidFill>
            <a:srgbClr val="000000">
              <a:alpha val="4705"/>
            </a:srgbClr>
          </a:solidFill>
          <a:ln w="180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6853982" y="6169925"/>
            <a:ext cx="570300" cy="360000"/>
          </a:xfrm>
          <a:prstGeom prst="rect">
            <a:avLst/>
          </a:prstGeom>
          <a:solidFill>
            <a:srgbClr val="000000">
              <a:alpha val="4705"/>
            </a:srgbClr>
          </a:solidFill>
          <a:ln w="180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"/>
          <p:cNvSpPr txBox="1"/>
          <p:nvPr/>
        </p:nvSpPr>
        <p:spPr>
          <a:xfrm>
            <a:off x="1950300" y="475300"/>
            <a:ext cx="5243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IN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 &amp; Numbers: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9463" y="1121800"/>
            <a:ext cx="7445066" cy="5583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2"/>
          <p:cNvSpPr/>
          <p:nvPr/>
        </p:nvSpPr>
        <p:spPr>
          <a:xfrm>
            <a:off x="4156796" y="1768300"/>
            <a:ext cx="830400" cy="861000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12"/>
          <p:cNvPicPr preferRelativeResize="0"/>
          <p:nvPr/>
        </p:nvPicPr>
        <p:blipFill rotWithShape="1">
          <a:blip r:embed="rId4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231" name="Google Shape;231;p12"/>
          <p:cNvPicPr preferRelativeResize="0"/>
          <p:nvPr/>
        </p:nvPicPr>
        <p:blipFill rotWithShape="1">
          <a:blip r:embed="rId5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32" name="Google Shape;232;p12"/>
          <p:cNvSpPr txBox="1"/>
          <p:nvPr/>
        </p:nvSpPr>
        <p:spPr>
          <a:xfrm>
            <a:off x="3049037" y="71321"/>
            <a:ext cx="3863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IN" sz="25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Entering Data</a:t>
            </a:r>
            <a:endParaRPr sz="2500" b="1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 txBox="1"/>
          <p:nvPr/>
        </p:nvSpPr>
        <p:spPr>
          <a:xfrm>
            <a:off x="2454513" y="522100"/>
            <a:ext cx="5243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IN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Dates: Slide change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13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240" name="Google Shape;240;p13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41" name="Google Shape;241;p13"/>
          <p:cNvSpPr txBox="1"/>
          <p:nvPr/>
        </p:nvSpPr>
        <p:spPr>
          <a:xfrm>
            <a:off x="3049037" y="71321"/>
            <a:ext cx="3863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IN" sz="25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Entering Data</a:t>
            </a:r>
            <a:endParaRPr sz="2500" b="1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13"/>
          <p:cNvPicPr preferRelativeResize="0"/>
          <p:nvPr/>
        </p:nvPicPr>
        <p:blipFill rotWithShape="1">
          <a:blip r:embed="rId5">
            <a:alphaModFix/>
          </a:blip>
          <a:srcRect l="27718" t="3963" r="45760" b="32028"/>
          <a:stretch/>
        </p:blipFill>
        <p:spPr>
          <a:xfrm>
            <a:off x="2365644" y="1211830"/>
            <a:ext cx="4214061" cy="541039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3" name="Google Shape;243;p13"/>
          <p:cNvSpPr txBox="1"/>
          <p:nvPr/>
        </p:nvSpPr>
        <p:spPr>
          <a:xfrm>
            <a:off x="4909347" y="1538929"/>
            <a:ext cx="1649896" cy="100357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4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250" name="Google Shape;250;p14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51" name="Google Shape;251;p14"/>
          <p:cNvSpPr txBox="1"/>
          <p:nvPr/>
        </p:nvSpPr>
        <p:spPr>
          <a:xfrm>
            <a:off x="2498618" y="509831"/>
            <a:ext cx="4590752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IN" sz="25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Navigating &amp; Selecting Data</a:t>
            </a:r>
            <a:endParaRPr sz="2500" b="1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2" name="Google Shape;252;p14"/>
          <p:cNvGrpSpPr/>
          <p:nvPr/>
        </p:nvGrpSpPr>
        <p:grpSpPr>
          <a:xfrm>
            <a:off x="1242391" y="1779591"/>
            <a:ext cx="6818244" cy="4004491"/>
            <a:chOff x="0" y="488"/>
            <a:chExt cx="6818244" cy="4004491"/>
          </a:xfrm>
        </p:grpSpPr>
        <p:cxnSp>
          <p:nvCxnSpPr>
            <p:cNvPr id="253" name="Google Shape;253;p14"/>
            <p:cNvCxnSpPr/>
            <p:nvPr/>
          </p:nvCxnSpPr>
          <p:spPr>
            <a:xfrm>
              <a:off x="0" y="488"/>
              <a:ext cx="6818244" cy="0"/>
            </a:xfrm>
            <a:prstGeom prst="straightConnector1">
              <a:avLst/>
            </a:prstGeom>
            <a:solidFill>
              <a:schemeClr val="accent2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4" name="Google Shape;254;p14"/>
            <p:cNvSpPr/>
            <p:nvPr/>
          </p:nvSpPr>
          <p:spPr>
            <a:xfrm>
              <a:off x="0" y="488"/>
              <a:ext cx="6818244" cy="8008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4"/>
            <p:cNvSpPr txBox="1"/>
            <p:nvPr/>
          </p:nvSpPr>
          <p:spPr>
            <a:xfrm>
              <a:off x="0" y="488"/>
              <a:ext cx="6818244" cy="8008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IN" sz="23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 Ctrl + arrows to move wide across</a:t>
              </a:r>
              <a:endParaRPr sz="2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6" name="Google Shape;256;p14"/>
            <p:cNvCxnSpPr/>
            <p:nvPr/>
          </p:nvCxnSpPr>
          <p:spPr>
            <a:xfrm>
              <a:off x="0" y="801387"/>
              <a:ext cx="6818244" cy="0"/>
            </a:xfrm>
            <a:prstGeom prst="straightConnector1">
              <a:avLst/>
            </a:prstGeom>
            <a:solidFill>
              <a:schemeClr val="accent3"/>
            </a:solidFill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7" name="Google Shape;257;p14"/>
            <p:cNvSpPr/>
            <p:nvPr/>
          </p:nvSpPr>
          <p:spPr>
            <a:xfrm>
              <a:off x="0" y="801387"/>
              <a:ext cx="6818244" cy="8008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4"/>
            <p:cNvSpPr txBox="1"/>
            <p:nvPr/>
          </p:nvSpPr>
          <p:spPr>
            <a:xfrm>
              <a:off x="0" y="801387"/>
              <a:ext cx="6818244" cy="8008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IN" sz="23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Home &gt; Editing &gt; Find &amp; Select </a:t>
              </a:r>
              <a:endParaRPr sz="2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9" name="Google Shape;259;p14"/>
            <p:cNvCxnSpPr/>
            <p:nvPr/>
          </p:nvCxnSpPr>
          <p:spPr>
            <a:xfrm>
              <a:off x="0" y="1602285"/>
              <a:ext cx="6818244" cy="0"/>
            </a:xfrm>
            <a:prstGeom prst="straightConnector1">
              <a:avLst/>
            </a:prstGeom>
            <a:solidFill>
              <a:schemeClr val="accent4"/>
            </a:solidFill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0" name="Google Shape;260;p14"/>
            <p:cNvSpPr/>
            <p:nvPr/>
          </p:nvSpPr>
          <p:spPr>
            <a:xfrm>
              <a:off x="0" y="1602285"/>
              <a:ext cx="6818244" cy="8008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4"/>
            <p:cNvSpPr txBox="1"/>
            <p:nvPr/>
          </p:nvSpPr>
          <p:spPr>
            <a:xfrm>
              <a:off x="0" y="1602285"/>
              <a:ext cx="6818244" cy="8008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IN" sz="23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Hold &amp; drag =&gt; Select the range</a:t>
              </a:r>
              <a:endParaRPr sz="2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2" name="Google Shape;262;p14"/>
            <p:cNvCxnSpPr/>
            <p:nvPr/>
          </p:nvCxnSpPr>
          <p:spPr>
            <a:xfrm>
              <a:off x="0" y="2403183"/>
              <a:ext cx="6818244" cy="0"/>
            </a:xfrm>
            <a:prstGeom prst="straightConnector1">
              <a:avLst/>
            </a:prstGeom>
            <a:solidFill>
              <a:srgbClr val="599BD5"/>
            </a:solidFill>
            <a:ln w="25400" cap="flat" cmpd="sng">
              <a:solidFill>
                <a:srgbClr val="599BD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3" name="Google Shape;263;p14"/>
            <p:cNvSpPr/>
            <p:nvPr/>
          </p:nvSpPr>
          <p:spPr>
            <a:xfrm>
              <a:off x="0" y="2403183"/>
              <a:ext cx="6818244" cy="8008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4"/>
            <p:cNvSpPr txBox="1"/>
            <p:nvPr/>
          </p:nvSpPr>
          <p:spPr>
            <a:xfrm>
              <a:off x="0" y="2403183"/>
              <a:ext cx="6818244" cy="8008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IN" sz="23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Hold Ctrl + select cells individually – selecting non-adjacent cells </a:t>
              </a:r>
              <a:endParaRPr sz="2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5" name="Google Shape;265;p14"/>
            <p:cNvCxnSpPr/>
            <p:nvPr/>
          </p:nvCxnSpPr>
          <p:spPr>
            <a:xfrm>
              <a:off x="0" y="3204081"/>
              <a:ext cx="6818244" cy="0"/>
            </a:xfrm>
            <a:prstGeom prst="straightConnector1">
              <a:avLst/>
            </a:prstGeom>
            <a:solidFill>
              <a:schemeClr val="accent6"/>
            </a:solidFill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6" name="Google Shape;266;p14"/>
            <p:cNvSpPr/>
            <p:nvPr/>
          </p:nvSpPr>
          <p:spPr>
            <a:xfrm>
              <a:off x="0" y="3204081"/>
              <a:ext cx="6818244" cy="8008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4"/>
            <p:cNvSpPr txBox="1"/>
            <p:nvPr/>
          </p:nvSpPr>
          <p:spPr>
            <a:xfrm>
              <a:off x="0" y="3204081"/>
              <a:ext cx="6818244" cy="8008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IN" sz="23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 Shift + Ctrl + arrows to select wide ranges</a:t>
              </a:r>
              <a:endParaRPr sz="2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"/>
          <p:cNvSpPr txBox="1"/>
          <p:nvPr/>
        </p:nvSpPr>
        <p:spPr>
          <a:xfrm>
            <a:off x="2552500" y="59000"/>
            <a:ext cx="3659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IN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Range - Cells  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17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275" name="Google Shape;275;p17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276" name="Google Shape;276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5975" y="934825"/>
            <a:ext cx="7181334" cy="538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 txBox="1"/>
          <p:nvPr/>
        </p:nvSpPr>
        <p:spPr>
          <a:xfrm>
            <a:off x="2552500" y="59000"/>
            <a:ext cx="5012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IN" sz="3000">
                <a:latin typeface="Calibri"/>
                <a:ea typeface="Calibri"/>
                <a:cs typeface="Calibri"/>
                <a:sym typeface="Calibri"/>
              </a:rPr>
              <a:t>Selecting </a:t>
            </a:r>
            <a:r>
              <a:rPr lang="en-IN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Non-Adjacent Cells  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18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284" name="Google Shape;284;p18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285" name="Google Shape;285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5200" y="1104325"/>
            <a:ext cx="7181334" cy="5386001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8"/>
          <p:cNvSpPr txBox="1"/>
          <p:nvPr/>
        </p:nvSpPr>
        <p:spPr>
          <a:xfrm>
            <a:off x="2983075" y="3106100"/>
            <a:ext cx="110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2983075" y="1677525"/>
            <a:ext cx="1752900" cy="1566900"/>
          </a:xfrm>
          <a:prstGeom prst="wedgeEllipseCallout">
            <a:avLst>
              <a:gd name="adj1" fmla="val 47495"/>
              <a:gd name="adj2" fmla="val -15746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Ctrl + Cells/ Rows/ Columns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9"/>
          <p:cNvSpPr txBox="1"/>
          <p:nvPr/>
        </p:nvSpPr>
        <p:spPr>
          <a:xfrm>
            <a:off x="2172007" y="232998"/>
            <a:ext cx="57201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IN" sz="36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Modifying Excel Sheet </a:t>
            </a:r>
            <a:endParaRPr sz="36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19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295" name="Google Shape;295;p19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296" name="Google Shape;296;p19"/>
          <p:cNvGrpSpPr/>
          <p:nvPr/>
        </p:nvGrpSpPr>
        <p:grpSpPr>
          <a:xfrm>
            <a:off x="547598" y="1195326"/>
            <a:ext cx="7593495" cy="4560947"/>
            <a:chOff x="0" y="556"/>
            <a:chExt cx="7593495" cy="4560947"/>
          </a:xfrm>
        </p:grpSpPr>
        <p:cxnSp>
          <p:nvCxnSpPr>
            <p:cNvPr id="297" name="Google Shape;297;p19"/>
            <p:cNvCxnSpPr/>
            <p:nvPr/>
          </p:nvCxnSpPr>
          <p:spPr>
            <a:xfrm>
              <a:off x="0" y="556"/>
              <a:ext cx="7593495" cy="0"/>
            </a:xfrm>
            <a:prstGeom prst="straightConnector1">
              <a:avLst/>
            </a:prstGeom>
            <a:solidFill>
              <a:schemeClr val="accent2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98" name="Google Shape;298;p19"/>
            <p:cNvSpPr/>
            <p:nvPr/>
          </p:nvSpPr>
          <p:spPr>
            <a:xfrm>
              <a:off x="0" y="556"/>
              <a:ext cx="7593495" cy="651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9"/>
            <p:cNvSpPr txBox="1"/>
            <p:nvPr/>
          </p:nvSpPr>
          <p:spPr>
            <a:xfrm>
              <a:off x="0" y="556"/>
              <a:ext cx="7593495" cy="651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IN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Cut, Copy &amp; Paste, Swap 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0" name="Google Shape;300;p19"/>
            <p:cNvCxnSpPr/>
            <p:nvPr/>
          </p:nvCxnSpPr>
          <p:spPr>
            <a:xfrm>
              <a:off x="0" y="652120"/>
              <a:ext cx="7593495" cy="0"/>
            </a:xfrm>
            <a:prstGeom prst="straightConnector1">
              <a:avLst/>
            </a:prstGeom>
            <a:solidFill>
              <a:schemeClr val="accent3"/>
            </a:solidFill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01" name="Google Shape;301;p19"/>
            <p:cNvSpPr/>
            <p:nvPr/>
          </p:nvSpPr>
          <p:spPr>
            <a:xfrm>
              <a:off x="0" y="652120"/>
              <a:ext cx="7593495" cy="651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9"/>
            <p:cNvSpPr txBox="1"/>
            <p:nvPr/>
          </p:nvSpPr>
          <p:spPr>
            <a:xfrm>
              <a:off x="0" y="652120"/>
              <a:ext cx="7593495" cy="651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IN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Clipboard &amp; Paste options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3" name="Google Shape;303;p19"/>
            <p:cNvCxnSpPr/>
            <p:nvPr/>
          </p:nvCxnSpPr>
          <p:spPr>
            <a:xfrm>
              <a:off x="0" y="1303684"/>
              <a:ext cx="7593495" cy="0"/>
            </a:xfrm>
            <a:prstGeom prst="straightConnector1">
              <a:avLst/>
            </a:prstGeom>
            <a:solidFill>
              <a:schemeClr val="accent4"/>
            </a:solidFill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04" name="Google Shape;304;p19"/>
            <p:cNvSpPr/>
            <p:nvPr/>
          </p:nvSpPr>
          <p:spPr>
            <a:xfrm>
              <a:off x="0" y="1303684"/>
              <a:ext cx="7593495" cy="651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9"/>
            <p:cNvSpPr txBox="1"/>
            <p:nvPr/>
          </p:nvSpPr>
          <p:spPr>
            <a:xfrm>
              <a:off x="0" y="1303684"/>
              <a:ext cx="7593495" cy="651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IN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Adjusting width &amp; height, Autofit, Wrap text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6" name="Google Shape;306;p19"/>
            <p:cNvCxnSpPr/>
            <p:nvPr/>
          </p:nvCxnSpPr>
          <p:spPr>
            <a:xfrm>
              <a:off x="0" y="1955248"/>
              <a:ext cx="7593495" cy="0"/>
            </a:xfrm>
            <a:prstGeom prst="straightConnector1">
              <a:avLst/>
            </a:prstGeom>
            <a:solidFill>
              <a:srgbClr val="599BD5"/>
            </a:solidFill>
            <a:ln w="25400" cap="flat" cmpd="sng">
              <a:solidFill>
                <a:srgbClr val="599BD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07" name="Google Shape;307;p19"/>
            <p:cNvSpPr/>
            <p:nvPr/>
          </p:nvSpPr>
          <p:spPr>
            <a:xfrm>
              <a:off x="0" y="1955248"/>
              <a:ext cx="7593495" cy="651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9"/>
            <p:cNvSpPr txBox="1"/>
            <p:nvPr/>
          </p:nvSpPr>
          <p:spPr>
            <a:xfrm>
              <a:off x="0" y="1955248"/>
              <a:ext cx="7593495" cy="651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IN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Inserting &amp; Deleting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9" name="Google Shape;309;p19"/>
            <p:cNvCxnSpPr/>
            <p:nvPr/>
          </p:nvCxnSpPr>
          <p:spPr>
            <a:xfrm>
              <a:off x="0" y="2606812"/>
              <a:ext cx="7593495" cy="0"/>
            </a:xfrm>
            <a:prstGeom prst="straightConnector1">
              <a:avLst/>
            </a:prstGeom>
            <a:solidFill>
              <a:schemeClr val="accent6"/>
            </a:solidFill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0" name="Google Shape;310;p19"/>
            <p:cNvSpPr/>
            <p:nvPr/>
          </p:nvSpPr>
          <p:spPr>
            <a:xfrm>
              <a:off x="0" y="2606812"/>
              <a:ext cx="7593495" cy="651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9"/>
            <p:cNvSpPr txBox="1"/>
            <p:nvPr/>
          </p:nvSpPr>
          <p:spPr>
            <a:xfrm>
              <a:off x="0" y="2606812"/>
              <a:ext cx="7593495" cy="651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IN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Hiding &amp; Unhiding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2" name="Google Shape;312;p19"/>
            <p:cNvCxnSpPr/>
            <p:nvPr/>
          </p:nvCxnSpPr>
          <p:spPr>
            <a:xfrm>
              <a:off x="0" y="3258376"/>
              <a:ext cx="7593495" cy="0"/>
            </a:xfrm>
            <a:prstGeom prst="straightConnector1">
              <a:avLst/>
            </a:prstGeom>
            <a:solidFill>
              <a:schemeClr val="accent2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3" name="Google Shape;313;p19"/>
            <p:cNvSpPr/>
            <p:nvPr/>
          </p:nvSpPr>
          <p:spPr>
            <a:xfrm>
              <a:off x="0" y="3258376"/>
              <a:ext cx="7593495" cy="651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9"/>
            <p:cNvSpPr txBox="1"/>
            <p:nvPr/>
          </p:nvSpPr>
          <p:spPr>
            <a:xfrm>
              <a:off x="0" y="3258376"/>
              <a:ext cx="7593495" cy="651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IN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Freeze &amp; Unfreeze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5" name="Google Shape;315;p19"/>
            <p:cNvCxnSpPr/>
            <p:nvPr/>
          </p:nvCxnSpPr>
          <p:spPr>
            <a:xfrm>
              <a:off x="0" y="3909940"/>
              <a:ext cx="7593495" cy="0"/>
            </a:xfrm>
            <a:prstGeom prst="straightConnector1">
              <a:avLst/>
            </a:prstGeom>
            <a:solidFill>
              <a:schemeClr val="accent3"/>
            </a:solidFill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6" name="Google Shape;316;p19"/>
            <p:cNvSpPr/>
            <p:nvPr/>
          </p:nvSpPr>
          <p:spPr>
            <a:xfrm>
              <a:off x="0" y="3909940"/>
              <a:ext cx="7593495" cy="651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9"/>
            <p:cNvSpPr txBox="1"/>
            <p:nvPr/>
          </p:nvSpPr>
          <p:spPr>
            <a:xfrm>
              <a:off x="0" y="3909940"/>
              <a:ext cx="7593495" cy="651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IN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Sort &amp; Filter 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0925" y="954762"/>
            <a:ext cx="6597976" cy="49484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0"/>
          <p:cNvSpPr txBox="1"/>
          <p:nvPr/>
        </p:nvSpPr>
        <p:spPr>
          <a:xfrm>
            <a:off x="2675600" y="246025"/>
            <a:ext cx="281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IN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Drag &amp; Drop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5028200" y="3675025"/>
            <a:ext cx="461400" cy="338100"/>
          </a:xfrm>
          <a:prstGeom prst="wedgeEllipseCallout">
            <a:avLst>
              <a:gd name="adj1" fmla="val -16685"/>
              <a:gd name="adj2" fmla="val -104577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" name="Google Shape;326;p20"/>
          <p:cNvPicPr preferRelativeResize="0"/>
          <p:nvPr/>
        </p:nvPicPr>
        <p:blipFill rotWithShape="1">
          <a:blip r:embed="rId4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327" name="Google Shape;327;p20"/>
          <p:cNvPicPr preferRelativeResize="0"/>
          <p:nvPr/>
        </p:nvPicPr>
        <p:blipFill rotWithShape="1">
          <a:blip r:embed="rId5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1"/>
          <p:cNvSpPr txBox="1"/>
          <p:nvPr/>
        </p:nvSpPr>
        <p:spPr>
          <a:xfrm>
            <a:off x="3229604" y="58998"/>
            <a:ext cx="2814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Swapping data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" name="Google Shape;334;p21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335" name="Google Shape;335;p21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36" name="Google Shape;336;p21"/>
          <p:cNvSpPr txBox="1"/>
          <p:nvPr/>
        </p:nvSpPr>
        <p:spPr>
          <a:xfrm>
            <a:off x="798464" y="883588"/>
            <a:ext cx="799106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Cut &amp; right-click at the row or column where we want this data to be shifted &amp; click on “insert the copied cells”. 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347869" y="2097157"/>
            <a:ext cx="19482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&gt; </a:t>
            </a:r>
            <a:r>
              <a:rPr lang="en-IN"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Clipboard group</a:t>
            </a:r>
            <a:r>
              <a:rPr lang="en-I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8" name="Google Shape;338;p21"/>
          <p:cNvPicPr preferRelativeResize="0"/>
          <p:nvPr/>
        </p:nvPicPr>
        <p:blipFill rotWithShape="1">
          <a:blip r:embed="rId5">
            <a:alphaModFix/>
          </a:blip>
          <a:srcRect l="21885" t="27005" r="18694" b="16184"/>
          <a:stretch/>
        </p:blipFill>
        <p:spPr>
          <a:xfrm>
            <a:off x="2051581" y="3142001"/>
            <a:ext cx="6744549" cy="345091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39" name="Google Shape;339;p21"/>
          <p:cNvPicPr preferRelativeResize="0"/>
          <p:nvPr/>
        </p:nvPicPr>
        <p:blipFill rotWithShape="1">
          <a:blip r:embed="rId5">
            <a:alphaModFix/>
          </a:blip>
          <a:srcRect t="23423" r="84457" b="9227"/>
          <a:stretch/>
        </p:blipFill>
        <p:spPr>
          <a:xfrm>
            <a:off x="347869" y="3142001"/>
            <a:ext cx="1421296" cy="346406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40" name="Google Shape;340;p21"/>
          <p:cNvSpPr/>
          <p:nvPr/>
        </p:nvSpPr>
        <p:spPr>
          <a:xfrm>
            <a:off x="7424529" y="4899991"/>
            <a:ext cx="1133061" cy="1371600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347869" y="3125435"/>
            <a:ext cx="1421296" cy="3603356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7185989" y="6223584"/>
            <a:ext cx="6162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8179904" y="5585791"/>
            <a:ext cx="6162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3607290" y="1786180"/>
            <a:ext cx="4950300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Paste options icon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Paste – keep source formatting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Paste – Keep source column width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Paste – transpose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0" y="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Exchanging of data between ranges and cells is known as swap.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22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352" name="Google Shape;352;p22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353" name="Google Shape;353;p22"/>
          <p:cNvGrpSpPr/>
          <p:nvPr/>
        </p:nvGrpSpPr>
        <p:grpSpPr>
          <a:xfrm>
            <a:off x="993913" y="1317420"/>
            <a:ext cx="7593495" cy="4792957"/>
            <a:chOff x="0" y="2187"/>
            <a:chExt cx="7593495" cy="4792957"/>
          </a:xfrm>
        </p:grpSpPr>
        <p:cxnSp>
          <p:nvCxnSpPr>
            <p:cNvPr id="354" name="Google Shape;354;p22"/>
            <p:cNvCxnSpPr/>
            <p:nvPr/>
          </p:nvCxnSpPr>
          <p:spPr>
            <a:xfrm>
              <a:off x="0" y="2187"/>
              <a:ext cx="7593495" cy="0"/>
            </a:xfrm>
            <a:prstGeom prst="straightConnector1">
              <a:avLst/>
            </a:prstGeom>
            <a:solidFill>
              <a:schemeClr val="accent2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55" name="Google Shape;355;p22"/>
            <p:cNvSpPr/>
            <p:nvPr/>
          </p:nvSpPr>
          <p:spPr>
            <a:xfrm>
              <a:off x="0" y="2187"/>
              <a:ext cx="7593495" cy="9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2"/>
            <p:cNvSpPr txBox="1"/>
            <p:nvPr/>
          </p:nvSpPr>
          <p:spPr>
            <a:xfrm>
              <a:off x="0" y="2187"/>
              <a:ext cx="7593495" cy="914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IN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Adjusting width &amp; height, Autofit </a:t>
              </a:r>
              <a:r>
                <a:rPr lang="en-IN" sz="16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n-IN" sz="1600" b="0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Changes cell size to content size)</a:t>
              </a:r>
              <a:r>
                <a:rPr lang="en-IN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Wrap text </a:t>
              </a:r>
              <a:r>
                <a:rPr lang="en-IN" sz="16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n-IN" sz="1600" b="0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Changes content size to cell size)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7" name="Google Shape;357;p22"/>
            <p:cNvCxnSpPr/>
            <p:nvPr/>
          </p:nvCxnSpPr>
          <p:spPr>
            <a:xfrm>
              <a:off x="0" y="916401"/>
              <a:ext cx="7593495" cy="0"/>
            </a:xfrm>
            <a:prstGeom prst="straightConnector1">
              <a:avLst/>
            </a:prstGeom>
            <a:solidFill>
              <a:schemeClr val="accent3"/>
            </a:solidFill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58" name="Google Shape;358;p22"/>
            <p:cNvSpPr/>
            <p:nvPr/>
          </p:nvSpPr>
          <p:spPr>
            <a:xfrm>
              <a:off x="0" y="916401"/>
              <a:ext cx="7593495" cy="9451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2"/>
            <p:cNvSpPr txBox="1"/>
            <p:nvPr/>
          </p:nvSpPr>
          <p:spPr>
            <a:xfrm>
              <a:off x="0" y="916401"/>
              <a:ext cx="7593495" cy="9451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IN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Inserting &amp; Deleting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0" name="Google Shape;360;p22"/>
            <p:cNvCxnSpPr/>
            <p:nvPr/>
          </p:nvCxnSpPr>
          <p:spPr>
            <a:xfrm>
              <a:off x="0" y="1861578"/>
              <a:ext cx="7593495" cy="0"/>
            </a:xfrm>
            <a:prstGeom prst="straightConnector1">
              <a:avLst/>
            </a:prstGeom>
            <a:solidFill>
              <a:schemeClr val="accent4"/>
            </a:solidFill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1" name="Google Shape;361;p22"/>
            <p:cNvSpPr/>
            <p:nvPr/>
          </p:nvSpPr>
          <p:spPr>
            <a:xfrm>
              <a:off x="0" y="1861578"/>
              <a:ext cx="7593495" cy="9451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2"/>
            <p:cNvSpPr txBox="1"/>
            <p:nvPr/>
          </p:nvSpPr>
          <p:spPr>
            <a:xfrm>
              <a:off x="0" y="1861578"/>
              <a:ext cx="7593495" cy="9451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IN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Hiding &amp; Unhiding</a:t>
              </a:r>
              <a:endParaRPr/>
            </a:p>
          </p:txBody>
        </p:sp>
        <p:cxnSp>
          <p:nvCxnSpPr>
            <p:cNvPr id="363" name="Google Shape;363;p22"/>
            <p:cNvCxnSpPr/>
            <p:nvPr/>
          </p:nvCxnSpPr>
          <p:spPr>
            <a:xfrm>
              <a:off x="0" y="2806756"/>
              <a:ext cx="7593495" cy="0"/>
            </a:xfrm>
            <a:prstGeom prst="straightConnector1">
              <a:avLst/>
            </a:prstGeom>
            <a:solidFill>
              <a:srgbClr val="599BD5"/>
            </a:solidFill>
            <a:ln w="25400" cap="flat" cmpd="sng">
              <a:solidFill>
                <a:srgbClr val="599BD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4" name="Google Shape;364;p22"/>
            <p:cNvSpPr/>
            <p:nvPr/>
          </p:nvSpPr>
          <p:spPr>
            <a:xfrm>
              <a:off x="0" y="2806756"/>
              <a:ext cx="7586079" cy="10432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2"/>
            <p:cNvSpPr txBox="1"/>
            <p:nvPr/>
          </p:nvSpPr>
          <p:spPr>
            <a:xfrm>
              <a:off x="0" y="2806756"/>
              <a:ext cx="7586079" cy="10432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IN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Freeze &amp; Unfreeze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IN" sz="1600" b="0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Place your cursor at the cell above which rows &amp; columns should be kept in freeze &gt; Select View tab &gt; Window Group &gt; Freeze Panes</a:t>
              </a:r>
              <a:endParaRPr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6" name="Google Shape;366;p22"/>
            <p:cNvCxnSpPr/>
            <p:nvPr/>
          </p:nvCxnSpPr>
          <p:spPr>
            <a:xfrm>
              <a:off x="0" y="3849967"/>
              <a:ext cx="7593495" cy="0"/>
            </a:xfrm>
            <a:prstGeom prst="straightConnector1">
              <a:avLst/>
            </a:prstGeom>
            <a:solidFill>
              <a:schemeClr val="accent6"/>
            </a:solidFill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7" name="Google Shape;367;p22"/>
            <p:cNvSpPr/>
            <p:nvPr/>
          </p:nvSpPr>
          <p:spPr>
            <a:xfrm>
              <a:off x="0" y="3849967"/>
              <a:ext cx="7593495" cy="9451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2"/>
            <p:cNvSpPr txBox="1"/>
            <p:nvPr/>
          </p:nvSpPr>
          <p:spPr>
            <a:xfrm>
              <a:off x="0" y="3849967"/>
              <a:ext cx="7593495" cy="9451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IN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Sort &amp; Filter 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IN" sz="1600" b="0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Home tab &gt; Editing Group &gt; Sort &amp; Filter</a:t>
              </a:r>
              <a:endParaRPr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9" name="Google Shape;369;p22"/>
          <p:cNvSpPr txBox="1"/>
          <p:nvPr/>
        </p:nvSpPr>
        <p:spPr>
          <a:xfrm>
            <a:off x="1711950" y="201749"/>
            <a:ext cx="57201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Modifying</a:t>
            </a:r>
            <a:r>
              <a:rPr lang="en-IN" sz="28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Excel Sheet </a:t>
            </a:r>
            <a:endParaRPr sz="2800" b="0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23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376" name="Google Shape;376;p23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377" name="Google Shape;377;p23"/>
          <p:cNvGrpSpPr/>
          <p:nvPr/>
        </p:nvGrpSpPr>
        <p:grpSpPr>
          <a:xfrm>
            <a:off x="401887" y="2883175"/>
            <a:ext cx="2547000" cy="2547000"/>
            <a:chOff x="1293737" y="1258050"/>
            <a:chExt cx="2547000" cy="2547000"/>
          </a:xfrm>
        </p:grpSpPr>
        <p:sp>
          <p:nvSpPr>
            <p:cNvPr id="378" name="Google Shape;378;p23"/>
            <p:cNvSpPr/>
            <p:nvPr/>
          </p:nvSpPr>
          <p:spPr>
            <a:xfrm rot="2700000">
              <a:off x="2286374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rgbClr val="094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3"/>
            <p:cNvSpPr/>
            <p:nvPr/>
          </p:nvSpPr>
          <p:spPr>
            <a:xfrm>
              <a:off x="151075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IN" sz="1200" b="1" i="0" u="none" strike="noStrike" cap="none">
                  <a:solidFill>
                    <a:srgbClr val="0944A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200" b="1" i="0" u="none" strike="noStrike" cap="none">
                <a:solidFill>
                  <a:srgbClr val="0944A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0" name="Google Shape;380;p23"/>
            <p:cNvSpPr txBox="1"/>
            <p:nvPr/>
          </p:nvSpPr>
          <p:spPr>
            <a:xfrm rot="-2700000">
              <a:off x="1501398" y="2241353"/>
              <a:ext cx="2332604" cy="393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IN" sz="2000" b="1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Font</a:t>
              </a:r>
              <a:endParaRPr sz="2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81" name="Google Shape;381;p23"/>
          <p:cNvGrpSpPr/>
          <p:nvPr/>
        </p:nvGrpSpPr>
        <p:grpSpPr>
          <a:xfrm>
            <a:off x="1948208" y="2844749"/>
            <a:ext cx="3475743" cy="2623851"/>
            <a:chOff x="2066083" y="1473349"/>
            <a:chExt cx="3475743" cy="2623851"/>
          </a:xfrm>
        </p:grpSpPr>
        <p:sp>
          <p:nvSpPr>
            <p:cNvPr id="382" name="Google Shape;382;p23"/>
            <p:cNvSpPr/>
            <p:nvPr/>
          </p:nvSpPr>
          <p:spPr>
            <a:xfrm rot="2700000">
              <a:off x="3058720" y="130356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rgbClr val="0D5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3"/>
            <p:cNvSpPr/>
            <p:nvPr/>
          </p:nvSpPr>
          <p:spPr>
            <a:xfrm>
              <a:off x="2283099" y="35436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IN" sz="1200" b="1" i="0" u="none" strike="noStrike" cap="none">
                  <a:solidFill>
                    <a:srgbClr val="0D5DD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200" b="1" i="0" u="none" strike="noStrike" cap="none">
                <a:solidFill>
                  <a:srgbClr val="0D5DD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4" name="Google Shape;384;p23"/>
            <p:cNvSpPr txBox="1"/>
            <p:nvPr/>
          </p:nvSpPr>
          <p:spPr>
            <a:xfrm rot="-2700000">
              <a:off x="3410687" y="2240903"/>
              <a:ext cx="2333877" cy="393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IN" sz="2000" b="1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Color</a:t>
              </a:r>
              <a:endParaRPr sz="2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5" name="Google Shape;385;p23"/>
            <p:cNvSpPr txBox="1"/>
            <p:nvPr/>
          </p:nvSpPr>
          <p:spPr>
            <a:xfrm rot="-2700000">
              <a:off x="2378406" y="2454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IN" sz="2000" b="1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Background color</a:t>
              </a:r>
              <a:endParaRPr sz="8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86" name="Google Shape;386;p23"/>
          <p:cNvGrpSpPr/>
          <p:nvPr/>
        </p:nvGrpSpPr>
        <p:grpSpPr>
          <a:xfrm>
            <a:off x="3606027" y="2883175"/>
            <a:ext cx="2547000" cy="2547000"/>
            <a:chOff x="5123977" y="1258050"/>
            <a:chExt cx="2547000" cy="2547000"/>
          </a:xfrm>
        </p:grpSpPr>
        <p:sp>
          <p:nvSpPr>
            <p:cNvPr id="387" name="Google Shape;387;p23"/>
            <p:cNvSpPr/>
            <p:nvPr/>
          </p:nvSpPr>
          <p:spPr>
            <a:xfrm rot="2700000">
              <a:off x="6116614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rgbClr val="307B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23"/>
            <p:cNvSpPr/>
            <p:nvPr/>
          </p:nvSpPr>
          <p:spPr>
            <a:xfrm>
              <a:off x="534099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IN" sz="1200" b="1" i="0" u="none" strike="noStrike" cap="none">
                  <a:solidFill>
                    <a:srgbClr val="307BF3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200" b="1" i="0" u="none" strike="noStrike" cap="none">
                <a:solidFill>
                  <a:srgbClr val="307B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9" name="Google Shape;389;p23"/>
            <p:cNvSpPr txBox="1"/>
            <p:nvPr/>
          </p:nvSpPr>
          <p:spPr>
            <a:xfrm rot="-2700000">
              <a:off x="5323969" y="2238203"/>
              <a:ext cx="2341513" cy="393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IN" sz="2000" b="1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Borders</a:t>
              </a:r>
              <a:endParaRPr sz="2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0" name="Google Shape;390;p23"/>
          <p:cNvGrpSpPr/>
          <p:nvPr/>
        </p:nvGrpSpPr>
        <p:grpSpPr>
          <a:xfrm>
            <a:off x="5290202" y="2883175"/>
            <a:ext cx="2547000" cy="2547000"/>
            <a:chOff x="5123977" y="1258050"/>
            <a:chExt cx="2547000" cy="2547000"/>
          </a:xfrm>
        </p:grpSpPr>
        <p:sp>
          <p:nvSpPr>
            <p:cNvPr id="391" name="Google Shape;391;p23"/>
            <p:cNvSpPr/>
            <p:nvPr/>
          </p:nvSpPr>
          <p:spPr>
            <a:xfrm rot="2700000">
              <a:off x="6116614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rgbClr val="307B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3"/>
            <p:cNvSpPr/>
            <p:nvPr/>
          </p:nvSpPr>
          <p:spPr>
            <a:xfrm>
              <a:off x="534099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IN" sz="1200" b="1" i="0" u="none" strike="noStrike" cap="none">
                  <a:solidFill>
                    <a:srgbClr val="307BF3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200" b="1" i="0" u="none" strike="noStrike" cap="none">
                <a:solidFill>
                  <a:srgbClr val="307B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3" name="Google Shape;393;p23"/>
            <p:cNvSpPr txBox="1"/>
            <p:nvPr/>
          </p:nvSpPr>
          <p:spPr>
            <a:xfrm rot="-2700000">
              <a:off x="5323969" y="2238203"/>
              <a:ext cx="2341513" cy="393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IN" sz="2000" b="1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Merge &amp; Centre</a:t>
              </a:r>
              <a:endParaRPr sz="2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94" name="Google Shape;394;p23"/>
          <p:cNvSpPr/>
          <p:nvPr/>
        </p:nvSpPr>
        <p:spPr>
          <a:xfrm>
            <a:off x="2698175" y="1225025"/>
            <a:ext cx="4467300" cy="612600"/>
          </a:xfrm>
          <a:prstGeom prst="chevron">
            <a:avLst>
              <a:gd name="adj" fmla="val 50000"/>
            </a:avLst>
          </a:prstGeom>
          <a:solidFill>
            <a:srgbClr val="B02C2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Formatting Data </a:t>
            </a:r>
            <a:endParaRPr sz="3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4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401" name="Google Shape;401;p24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402" name="Google Shape;402;p24"/>
          <p:cNvSpPr/>
          <p:nvPr/>
        </p:nvSpPr>
        <p:spPr>
          <a:xfrm>
            <a:off x="2875450" y="292150"/>
            <a:ext cx="2767800" cy="753600"/>
          </a:xfrm>
          <a:prstGeom prst="bevel">
            <a:avLst>
              <a:gd name="adj" fmla="val 12500"/>
            </a:avLst>
          </a:prstGeom>
          <a:solidFill>
            <a:srgbClr val="307B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IN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		</a:t>
            </a:r>
            <a:r>
              <a:rPr lang="en-IN" sz="2500" b="1" i="0" u="none" strike="noStrike" cap="none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Font</a:t>
            </a:r>
            <a:endParaRPr sz="2500" b="1" i="0" u="none" strike="noStrike" cap="none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403" name="Google Shape;403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5325" y="1198150"/>
            <a:ext cx="7343266" cy="5507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25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410" name="Google Shape;410;p25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411" name="Google Shape;411;p25"/>
          <p:cNvSpPr/>
          <p:nvPr/>
        </p:nvSpPr>
        <p:spPr>
          <a:xfrm>
            <a:off x="2875450" y="292150"/>
            <a:ext cx="3582600" cy="753600"/>
          </a:xfrm>
          <a:prstGeom prst="bevel">
            <a:avLst>
              <a:gd name="adj" fmla="val 12500"/>
            </a:avLst>
          </a:prstGeom>
          <a:solidFill>
            <a:srgbClr val="307B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IN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IN" sz="2500" b="1" i="0" u="none" strike="noStrike" cap="none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Background Color</a:t>
            </a:r>
            <a:endParaRPr sz="2500" b="1" i="0" u="none" strike="noStrike" cap="none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412" name="Google Shape;412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1350" y="1152025"/>
            <a:ext cx="7343266" cy="5507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6"/>
          <p:cNvSpPr txBox="1"/>
          <p:nvPr/>
        </p:nvSpPr>
        <p:spPr>
          <a:xfrm>
            <a:off x="953350" y="2675525"/>
            <a:ext cx="66888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9" name="Google Shape;419;p26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420" name="Google Shape;420;p26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421" name="Google Shape;421;p26"/>
          <p:cNvSpPr/>
          <p:nvPr/>
        </p:nvSpPr>
        <p:spPr>
          <a:xfrm>
            <a:off x="2875450" y="292150"/>
            <a:ext cx="2767800" cy="753600"/>
          </a:xfrm>
          <a:prstGeom prst="bevel">
            <a:avLst>
              <a:gd name="adj" fmla="val 12500"/>
            </a:avLst>
          </a:prstGeom>
          <a:solidFill>
            <a:srgbClr val="307B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IN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	</a:t>
            </a:r>
            <a:r>
              <a:rPr lang="en-IN" sz="2500" b="1" i="0" u="none" strike="noStrike" cap="none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Borders</a:t>
            </a:r>
            <a:endParaRPr sz="2500" b="1" i="0" u="none" strike="noStrike" cap="none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422" name="Google Shape;422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4475" y="1045751"/>
            <a:ext cx="7489750" cy="5617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27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429" name="Google Shape;429;p27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430" name="Google Shape;430;p27"/>
          <p:cNvSpPr/>
          <p:nvPr/>
        </p:nvSpPr>
        <p:spPr>
          <a:xfrm>
            <a:off x="2875450" y="292150"/>
            <a:ext cx="3536700" cy="753600"/>
          </a:xfrm>
          <a:prstGeom prst="bevel">
            <a:avLst>
              <a:gd name="adj" fmla="val 12500"/>
            </a:avLst>
          </a:prstGeom>
          <a:solidFill>
            <a:srgbClr val="307B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IN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	</a:t>
            </a:r>
            <a:r>
              <a:rPr lang="en-IN" sz="2500" b="1" i="0" u="none" strike="noStrike" cap="none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Merge &amp; Centre</a:t>
            </a:r>
            <a:endParaRPr sz="2500" b="1" i="0" u="none" strike="noStrike" cap="none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431" name="Google Shape;431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3700" y="1275025"/>
            <a:ext cx="7343266" cy="5507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28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438" name="Google Shape;438;p28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439" name="Google Shape;439;p28"/>
          <p:cNvSpPr/>
          <p:nvPr/>
        </p:nvSpPr>
        <p:spPr>
          <a:xfrm>
            <a:off x="2875450" y="292150"/>
            <a:ext cx="4197900" cy="753600"/>
          </a:xfrm>
          <a:prstGeom prst="bevel">
            <a:avLst>
              <a:gd name="adj" fmla="val 12500"/>
            </a:avLst>
          </a:prstGeom>
          <a:solidFill>
            <a:srgbClr val="307B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IN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	</a:t>
            </a:r>
            <a:r>
              <a:rPr lang="en-IN" sz="2500" b="1" i="0" u="none" strike="noStrike" cap="none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Alignment(Centre)</a:t>
            </a:r>
            <a:endParaRPr sz="2500" b="1" i="0" u="none" strike="noStrike" cap="none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440" name="Google Shape;440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2100" y="1198150"/>
            <a:ext cx="7343266" cy="5507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29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447" name="Google Shape;447;p29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448" name="Google Shape;448;p29"/>
          <p:cNvSpPr/>
          <p:nvPr/>
        </p:nvSpPr>
        <p:spPr>
          <a:xfrm>
            <a:off x="950850" y="2473150"/>
            <a:ext cx="7242300" cy="2091300"/>
          </a:xfrm>
          <a:prstGeom prst="ellipseRibbon2">
            <a:avLst>
              <a:gd name="adj1" fmla="val 25000"/>
              <a:gd name="adj2" fmla="val 50000"/>
              <a:gd name="adj3" fmla="val 12500"/>
            </a:avLst>
          </a:prstGeom>
          <a:solidFill>
            <a:srgbClr val="3C7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 b="1" i="0" u="none" strike="noStrike" cap="none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rPr>
              <a:t>##Formulas##</a:t>
            </a:r>
            <a:endParaRPr sz="2500" b="1" i="0" u="none" strike="noStrike" cap="none">
              <a:solidFill>
                <a:schemeClr val="lt1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0"/>
          <p:cNvSpPr txBox="1"/>
          <p:nvPr/>
        </p:nvSpPr>
        <p:spPr>
          <a:xfrm>
            <a:off x="2158375" y="751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IN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Formulas: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5" name="Google Shape;45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9825" y="860400"/>
            <a:ext cx="7620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0"/>
          <p:cNvPicPr preferRelativeResize="0"/>
          <p:nvPr/>
        </p:nvPicPr>
        <p:blipFill rotWithShape="1">
          <a:blip r:embed="rId4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457" name="Google Shape;457;p30"/>
          <p:cNvPicPr preferRelativeResize="0"/>
          <p:nvPr/>
        </p:nvPicPr>
        <p:blipFill rotWithShape="1">
          <a:blip r:embed="rId5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575" y="967350"/>
            <a:ext cx="7620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31"/>
          <p:cNvSpPr txBox="1"/>
          <p:nvPr/>
        </p:nvSpPr>
        <p:spPr>
          <a:xfrm>
            <a:off x="2629425" y="384425"/>
            <a:ext cx="2829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IN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 Options: 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5" name="Google Shape;465;p31"/>
          <p:cNvPicPr preferRelativeResize="0"/>
          <p:nvPr/>
        </p:nvPicPr>
        <p:blipFill rotWithShape="1">
          <a:blip r:embed="rId4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466" name="Google Shape;466;p31"/>
          <p:cNvPicPr preferRelativeResize="0"/>
          <p:nvPr/>
        </p:nvPicPr>
        <p:blipFill rotWithShape="1">
          <a:blip r:embed="rId5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325" y="1213400"/>
            <a:ext cx="7620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2"/>
          <p:cNvSpPr txBox="1"/>
          <p:nvPr/>
        </p:nvSpPr>
        <p:spPr>
          <a:xfrm>
            <a:off x="2434650" y="261400"/>
            <a:ext cx="4274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IN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 Formula_ Step-1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4" name="Google Shape;474;p32"/>
          <p:cNvPicPr preferRelativeResize="0"/>
          <p:nvPr/>
        </p:nvPicPr>
        <p:blipFill rotWithShape="1">
          <a:blip r:embed="rId4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475" name="Google Shape;475;p32"/>
          <p:cNvPicPr preferRelativeResize="0"/>
          <p:nvPr/>
        </p:nvPicPr>
        <p:blipFill rotWithShape="1">
          <a:blip r:embed="rId5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3"/>
          <p:cNvSpPr txBox="1"/>
          <p:nvPr/>
        </p:nvSpPr>
        <p:spPr>
          <a:xfrm>
            <a:off x="2567900" y="76900"/>
            <a:ext cx="5351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IN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AVG Formula_ Step-1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2" name="Google Shape;482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798900"/>
            <a:ext cx="7620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33"/>
          <p:cNvPicPr preferRelativeResize="0"/>
          <p:nvPr/>
        </p:nvPicPr>
        <p:blipFill rotWithShape="1">
          <a:blip r:embed="rId4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484" name="Google Shape;484;p33"/>
          <p:cNvPicPr preferRelativeResize="0"/>
          <p:nvPr/>
        </p:nvPicPr>
        <p:blipFill rotWithShape="1">
          <a:blip r:embed="rId5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4"/>
          <p:cNvSpPr txBox="1"/>
          <p:nvPr/>
        </p:nvSpPr>
        <p:spPr>
          <a:xfrm>
            <a:off x="2168100" y="90900"/>
            <a:ext cx="565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IN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AVG Formula_ Step-2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1" name="Google Shape;49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9825" y="737400"/>
            <a:ext cx="7620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34"/>
          <p:cNvPicPr preferRelativeResize="0"/>
          <p:nvPr/>
        </p:nvPicPr>
        <p:blipFill rotWithShape="1">
          <a:blip r:embed="rId4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493" name="Google Shape;493;p34"/>
          <p:cNvPicPr preferRelativeResize="0"/>
          <p:nvPr/>
        </p:nvPicPr>
        <p:blipFill rotWithShape="1">
          <a:blip r:embed="rId5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5"/>
          <p:cNvSpPr txBox="1"/>
          <p:nvPr/>
        </p:nvSpPr>
        <p:spPr>
          <a:xfrm>
            <a:off x="1073750" y="907225"/>
            <a:ext cx="9057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IN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Relative Vs Absolute references: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0" name="Google Shape;500;p35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graphicFrame>
        <p:nvGraphicFramePr>
          <p:cNvPr id="501" name="Google Shape;501;p35"/>
          <p:cNvGraphicFramePr/>
          <p:nvPr/>
        </p:nvGraphicFramePr>
        <p:xfrm>
          <a:off x="798725" y="178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{90D936C3-A35A-49E5-ACBA-07248AF7F898}</a:tableStyleId>
              </a:tblPr>
              <a:tblGrid>
                <a:gridCol w="358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0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IN" sz="2500" b="1" u="none" strike="noStrike" cap="none"/>
                        <a:t>Relative References</a:t>
                      </a:r>
                      <a:endParaRPr sz="2500" b="1" u="none" strike="noStrike" cap="none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IN" sz="2500" b="1" u="none" strike="noStrike" cap="none"/>
                        <a:t>Absolute References</a:t>
                      </a:r>
                      <a:endParaRPr sz="2500" b="1" u="none" strike="noStrike" cap="none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IN" sz="2500" u="none" strike="noStrike" cap="none"/>
                        <a:t>Cells in Relation</a:t>
                      </a:r>
                      <a:endParaRPr sz="25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IN" sz="2500" u="none" strike="noStrike" cap="none"/>
                        <a:t>Refer to Same cells.</a:t>
                      </a:r>
                      <a:endParaRPr sz="25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3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IN" sz="2500" u="none" strike="noStrike" cap="none"/>
                        <a:t>When moved refers different cells.</a:t>
                      </a:r>
                      <a:endParaRPr sz="25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IN" sz="2500" u="none" strike="noStrike" cap="none"/>
                        <a:t>Same cell reference even after movement</a:t>
                      </a:r>
                      <a:endParaRPr sz="25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IN" sz="2500" u="none" strike="noStrike" cap="none"/>
                        <a:t>Default type reference</a:t>
                      </a:r>
                      <a:endParaRPr sz="25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IN" sz="2500" u="none" strike="noStrike" cap="none"/>
                        <a:t>Dollar signs in formula</a:t>
                      </a:r>
                      <a:endParaRPr sz="25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IN" sz="2500" u="none" strike="noStrike" cap="none"/>
                        <a:t>Eg: A1</a:t>
                      </a:r>
                      <a:endParaRPr sz="25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IN" sz="2500" u="none" strike="noStrike" cap="none"/>
                        <a:t>Eg: $A$1</a:t>
                      </a:r>
                      <a:endParaRPr sz="25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2" name="Google Shape;502;p35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6"/>
          <p:cNvSpPr txBox="1"/>
          <p:nvPr/>
        </p:nvSpPr>
        <p:spPr>
          <a:xfrm>
            <a:off x="1783700" y="152400"/>
            <a:ext cx="5304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IN" sz="3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Relative references Part-1: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9" name="Google Shape;509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798900"/>
            <a:ext cx="7620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6"/>
          <p:cNvPicPr preferRelativeResize="0"/>
          <p:nvPr/>
        </p:nvPicPr>
        <p:blipFill rotWithShape="1">
          <a:blip r:embed="rId4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511" name="Google Shape;511;p36"/>
          <p:cNvPicPr preferRelativeResize="0"/>
          <p:nvPr/>
        </p:nvPicPr>
        <p:blipFill rotWithShape="1">
          <a:blip r:embed="rId5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7"/>
          <p:cNvSpPr txBox="1"/>
          <p:nvPr/>
        </p:nvSpPr>
        <p:spPr>
          <a:xfrm>
            <a:off x="2114757" y="148813"/>
            <a:ext cx="6427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IN" sz="3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Relative references Part-2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8" name="Google Shape;51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275" y="1044925"/>
            <a:ext cx="7620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37"/>
          <p:cNvPicPr preferRelativeResize="0"/>
          <p:nvPr/>
        </p:nvPicPr>
        <p:blipFill rotWithShape="1">
          <a:blip r:embed="rId4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520" name="Google Shape;520;p37"/>
          <p:cNvPicPr preferRelativeResize="0"/>
          <p:nvPr/>
        </p:nvPicPr>
        <p:blipFill rotWithShape="1">
          <a:blip r:embed="rId5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8"/>
          <p:cNvSpPr txBox="1"/>
          <p:nvPr/>
        </p:nvSpPr>
        <p:spPr>
          <a:xfrm>
            <a:off x="2188650" y="42050"/>
            <a:ext cx="4766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IN" sz="3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Absolute references: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7" name="Google Shape;527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835475"/>
            <a:ext cx="7620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38"/>
          <p:cNvPicPr preferRelativeResize="0"/>
          <p:nvPr/>
        </p:nvPicPr>
        <p:blipFill rotWithShape="1">
          <a:blip r:embed="rId4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529" name="Google Shape;529;p38"/>
          <p:cNvPicPr preferRelativeResize="0"/>
          <p:nvPr/>
        </p:nvPicPr>
        <p:blipFill rotWithShape="1">
          <a:blip r:embed="rId5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39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536" name="Google Shape;536;p39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37" name="Google Shape;537;p39"/>
          <p:cNvSpPr/>
          <p:nvPr/>
        </p:nvSpPr>
        <p:spPr>
          <a:xfrm>
            <a:off x="2340163" y="2490950"/>
            <a:ext cx="4284300" cy="669000"/>
          </a:xfrm>
          <a:prstGeom prst="chevron">
            <a:avLst>
              <a:gd name="adj" fmla="val 50000"/>
            </a:avLst>
          </a:prstGeom>
          <a:solidFill>
            <a:srgbClr val="0944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Chart Ribbon</a:t>
            </a:r>
            <a:endParaRPr sz="2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39"/>
          <p:cNvSpPr/>
          <p:nvPr/>
        </p:nvSpPr>
        <p:spPr>
          <a:xfrm>
            <a:off x="2340161" y="3581313"/>
            <a:ext cx="4284300" cy="669000"/>
          </a:xfrm>
          <a:prstGeom prst="chevron">
            <a:avLst>
              <a:gd name="adj" fmla="val 50000"/>
            </a:avLst>
          </a:prstGeom>
          <a:solidFill>
            <a:srgbClr val="0944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Modifying data in Chart</a:t>
            </a:r>
            <a:endParaRPr sz="2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39"/>
          <p:cNvSpPr/>
          <p:nvPr/>
        </p:nvSpPr>
        <p:spPr>
          <a:xfrm>
            <a:off x="2340149" y="4779325"/>
            <a:ext cx="4284300" cy="669000"/>
          </a:xfrm>
          <a:prstGeom prst="chevron">
            <a:avLst>
              <a:gd name="adj" fmla="val 50000"/>
            </a:avLst>
          </a:prstGeom>
          <a:solidFill>
            <a:srgbClr val="0944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Formatting a Chart</a:t>
            </a:r>
            <a:endParaRPr sz="2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0" name="Google Shape;540;p39"/>
          <p:cNvSpPr/>
          <p:nvPr/>
        </p:nvSpPr>
        <p:spPr>
          <a:xfrm>
            <a:off x="2783175" y="845700"/>
            <a:ext cx="3398274" cy="814968"/>
          </a:xfrm>
          <a:prstGeom prst="flowChartTerminator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Creating Charts</a:t>
            </a:r>
            <a:r>
              <a:rPr lang="en-I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547" name="Google Shape;547;p40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48" name="Google Shape;548;p40"/>
          <p:cNvSpPr/>
          <p:nvPr/>
        </p:nvSpPr>
        <p:spPr>
          <a:xfrm>
            <a:off x="2355538" y="368975"/>
            <a:ext cx="4284300" cy="669000"/>
          </a:xfrm>
          <a:prstGeom prst="chevron">
            <a:avLst>
              <a:gd name="adj" fmla="val 50000"/>
            </a:avLst>
          </a:prstGeom>
          <a:solidFill>
            <a:srgbClr val="0944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Chart Ribbon</a:t>
            </a:r>
            <a:endParaRPr sz="2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" y="1190375"/>
            <a:ext cx="8839202" cy="4969624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/>
          <p:nvPr/>
        </p:nvSpPr>
        <p:spPr>
          <a:xfrm>
            <a:off x="3367500" y="1481275"/>
            <a:ext cx="2106600" cy="66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40"/>
          <p:cNvSpPr/>
          <p:nvPr/>
        </p:nvSpPr>
        <p:spPr>
          <a:xfrm rot="8755">
            <a:off x="1002205" y="860232"/>
            <a:ext cx="353401" cy="329700"/>
          </a:xfrm>
          <a:prstGeom prst="wedgeEllipseCallout">
            <a:avLst>
              <a:gd name="adj1" fmla="val -37714"/>
              <a:gd name="adj2" fmla="val 108935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40"/>
          <p:cNvSpPr/>
          <p:nvPr/>
        </p:nvSpPr>
        <p:spPr>
          <a:xfrm rot="8755">
            <a:off x="5700805" y="2284482"/>
            <a:ext cx="353401" cy="329700"/>
          </a:xfrm>
          <a:prstGeom prst="wedgeEllipseCallout">
            <a:avLst>
              <a:gd name="adj1" fmla="val -14072"/>
              <a:gd name="adj2" fmla="val -113233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40"/>
          <p:cNvSpPr/>
          <p:nvPr/>
        </p:nvSpPr>
        <p:spPr>
          <a:xfrm rot="-154696">
            <a:off x="3825568" y="2285776"/>
            <a:ext cx="353458" cy="329769"/>
          </a:xfrm>
          <a:prstGeom prst="wedgeEllipseCallout">
            <a:avLst>
              <a:gd name="adj1" fmla="val 3519"/>
              <a:gd name="adj2" fmla="val -94528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40"/>
          <p:cNvSpPr/>
          <p:nvPr/>
        </p:nvSpPr>
        <p:spPr>
          <a:xfrm>
            <a:off x="5474100" y="1481275"/>
            <a:ext cx="815100" cy="66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p41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561" name="Google Shape;561;p41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62" name="Google Shape;562;p41"/>
          <p:cNvSpPr/>
          <p:nvPr/>
        </p:nvSpPr>
        <p:spPr>
          <a:xfrm>
            <a:off x="2429861" y="265813"/>
            <a:ext cx="4284300" cy="669000"/>
          </a:xfrm>
          <a:prstGeom prst="chevron">
            <a:avLst>
              <a:gd name="adj" fmla="val 50000"/>
            </a:avLst>
          </a:prstGeom>
          <a:solidFill>
            <a:srgbClr val="0944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Modifying data in Chart</a:t>
            </a:r>
            <a:endParaRPr sz="2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63" name="Google Shape;563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" y="1087233"/>
            <a:ext cx="7491156" cy="5618367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1"/>
          <p:cNvSpPr txBox="1"/>
          <p:nvPr/>
        </p:nvSpPr>
        <p:spPr>
          <a:xfrm>
            <a:off x="8134275" y="5443350"/>
            <a:ext cx="121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Adding data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42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571" name="Google Shape;571;p42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72" name="Google Shape;572;p42"/>
          <p:cNvSpPr/>
          <p:nvPr/>
        </p:nvSpPr>
        <p:spPr>
          <a:xfrm>
            <a:off x="2429861" y="265813"/>
            <a:ext cx="4284300" cy="669000"/>
          </a:xfrm>
          <a:prstGeom prst="chevron">
            <a:avLst>
              <a:gd name="adj" fmla="val 50000"/>
            </a:avLst>
          </a:prstGeom>
          <a:solidFill>
            <a:srgbClr val="0944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Modifying data in Chart</a:t>
            </a:r>
            <a:endParaRPr sz="2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73" name="Google Shape;573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" y="1087233"/>
            <a:ext cx="7491156" cy="5618367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42"/>
          <p:cNvSpPr txBox="1"/>
          <p:nvPr/>
        </p:nvSpPr>
        <p:spPr>
          <a:xfrm>
            <a:off x="8118900" y="1737575"/>
            <a:ext cx="1307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Re-ordering Data series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43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581" name="Google Shape;581;p43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82" name="Google Shape;582;p43"/>
          <p:cNvSpPr/>
          <p:nvPr/>
        </p:nvSpPr>
        <p:spPr>
          <a:xfrm>
            <a:off x="2429861" y="265813"/>
            <a:ext cx="4284300" cy="669000"/>
          </a:xfrm>
          <a:prstGeom prst="chevron">
            <a:avLst>
              <a:gd name="adj" fmla="val 50000"/>
            </a:avLst>
          </a:prstGeom>
          <a:solidFill>
            <a:srgbClr val="0944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Modifying data in Chart</a:t>
            </a:r>
            <a:endParaRPr sz="2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83" name="Google Shape;583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" y="1087233"/>
            <a:ext cx="7491156" cy="5618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Google Shape;589;p44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590" name="Google Shape;590;p44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91" name="Google Shape;591;p44"/>
          <p:cNvSpPr/>
          <p:nvPr/>
        </p:nvSpPr>
        <p:spPr>
          <a:xfrm>
            <a:off x="2324749" y="265825"/>
            <a:ext cx="4284300" cy="669000"/>
          </a:xfrm>
          <a:prstGeom prst="chevron">
            <a:avLst>
              <a:gd name="adj" fmla="val 50000"/>
            </a:avLst>
          </a:prstGeom>
          <a:solidFill>
            <a:srgbClr val="0944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Formatting a Chart</a:t>
            </a:r>
            <a:endParaRPr sz="2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92" name="Google Shape;592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" y="1087233"/>
            <a:ext cx="7491156" cy="5618367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44"/>
          <p:cNvSpPr txBox="1"/>
          <p:nvPr/>
        </p:nvSpPr>
        <p:spPr>
          <a:xfrm>
            <a:off x="8072750" y="1414650"/>
            <a:ext cx="69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Color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9" name="Google Shape;599;p45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600" name="Google Shape;600;p45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601" name="Google Shape;601;p45"/>
          <p:cNvSpPr/>
          <p:nvPr/>
        </p:nvSpPr>
        <p:spPr>
          <a:xfrm>
            <a:off x="2324749" y="265825"/>
            <a:ext cx="4284300" cy="669000"/>
          </a:xfrm>
          <a:prstGeom prst="chevron">
            <a:avLst>
              <a:gd name="adj" fmla="val 50000"/>
            </a:avLst>
          </a:prstGeom>
          <a:solidFill>
            <a:srgbClr val="0944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Formatting a Chart</a:t>
            </a:r>
            <a:endParaRPr sz="2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2" name="Google Shape;602;p45"/>
          <p:cNvSpPr txBox="1"/>
          <p:nvPr/>
        </p:nvSpPr>
        <p:spPr>
          <a:xfrm>
            <a:off x="8072750" y="1414650"/>
            <a:ext cx="69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Color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3" name="Google Shape;603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" y="1087233"/>
            <a:ext cx="7491156" cy="5618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9" name="Google Shape;609;p46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610" name="Google Shape;610;p46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611" name="Google Shape;611;p46"/>
          <p:cNvSpPr/>
          <p:nvPr/>
        </p:nvSpPr>
        <p:spPr>
          <a:xfrm>
            <a:off x="2324749" y="265825"/>
            <a:ext cx="4284300" cy="669000"/>
          </a:xfrm>
          <a:prstGeom prst="chevron">
            <a:avLst>
              <a:gd name="adj" fmla="val 50000"/>
            </a:avLst>
          </a:prstGeom>
          <a:solidFill>
            <a:srgbClr val="0944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Formatting a Chart</a:t>
            </a:r>
            <a:endParaRPr sz="2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2" name="Google Shape;612;p46"/>
          <p:cNvSpPr txBox="1"/>
          <p:nvPr/>
        </p:nvSpPr>
        <p:spPr>
          <a:xfrm>
            <a:off x="8072750" y="1414650"/>
            <a:ext cx="69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3" name="Google Shape;613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" y="1087233"/>
            <a:ext cx="7491156" cy="5618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Google Shape;619;p47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620" name="Google Shape;620;p47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621" name="Google Shape;621;p47"/>
          <p:cNvSpPr/>
          <p:nvPr/>
        </p:nvSpPr>
        <p:spPr>
          <a:xfrm>
            <a:off x="2324749" y="265825"/>
            <a:ext cx="4284300" cy="669000"/>
          </a:xfrm>
          <a:prstGeom prst="chevron">
            <a:avLst>
              <a:gd name="adj" fmla="val 50000"/>
            </a:avLst>
          </a:prstGeom>
          <a:solidFill>
            <a:srgbClr val="0944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Formatting a Chart</a:t>
            </a:r>
            <a:endParaRPr sz="2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2" name="Google Shape;622;p47"/>
          <p:cNvSpPr txBox="1"/>
          <p:nvPr/>
        </p:nvSpPr>
        <p:spPr>
          <a:xfrm>
            <a:off x="8072750" y="1414650"/>
            <a:ext cx="692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Legend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3" name="Google Shape;623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" y="1087233"/>
            <a:ext cx="7491156" cy="5618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8"/>
          <p:cNvPicPr preferRelativeResize="0"/>
          <p:nvPr/>
        </p:nvPicPr>
        <p:blipFill rotWithShape="1">
          <a:blip r:embed="rId3">
            <a:alphaModFix/>
          </a:blip>
          <a:srcRect l="9273" t="30771" r="9092" b="34965"/>
          <a:stretch/>
        </p:blipFill>
        <p:spPr>
          <a:xfrm>
            <a:off x="0" y="58998"/>
            <a:ext cx="1948200" cy="6126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pic>
        <p:nvPicPr>
          <p:cNvPr id="630" name="Google Shape;630;p48"/>
          <p:cNvPicPr preferRelativeResize="0"/>
          <p:nvPr/>
        </p:nvPicPr>
        <p:blipFill rotWithShape="1">
          <a:blip r:embed="rId4">
            <a:alphaModFix/>
          </a:blip>
          <a:srcRect l="23738" t="16982" r="14759" b="12406"/>
          <a:stretch/>
        </p:blipFill>
        <p:spPr>
          <a:xfrm>
            <a:off x="7639789" y="9303"/>
            <a:ext cx="1307310" cy="925530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631" name="Google Shape;631;p48"/>
          <p:cNvSpPr/>
          <p:nvPr/>
        </p:nvSpPr>
        <p:spPr>
          <a:xfrm>
            <a:off x="2936950" y="322900"/>
            <a:ext cx="2921575" cy="676575"/>
          </a:xfrm>
          <a:prstGeom prst="flowChartPunchedTape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IN" sz="2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Printing the Sheet</a:t>
            </a:r>
            <a:endParaRPr sz="25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2" name="Google Shape;632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8300" y="1182625"/>
            <a:ext cx="7404966" cy="555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49"/>
          <p:cNvPicPr preferRelativeResize="0"/>
          <p:nvPr/>
        </p:nvPicPr>
        <p:blipFill rotWithShape="1">
          <a:blip r:embed="rId3">
            <a:alphaModFix/>
          </a:blip>
          <a:srcRect l="9274" t="30771" r="9094" b="34966"/>
          <a:stretch/>
        </p:blipFill>
        <p:spPr>
          <a:xfrm>
            <a:off x="0" y="9302"/>
            <a:ext cx="1948159" cy="612566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639" name="Google Shape;639;p49"/>
          <p:cNvPicPr preferRelativeResize="0"/>
          <p:nvPr/>
        </p:nvPicPr>
        <p:blipFill rotWithShape="1">
          <a:blip r:embed="rId4">
            <a:alphaModFix/>
          </a:blip>
          <a:srcRect l="23738" t="16982" r="14760" b="12408"/>
          <a:stretch/>
        </p:blipFill>
        <p:spPr>
          <a:xfrm>
            <a:off x="7835898" y="9303"/>
            <a:ext cx="1308102" cy="821208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640" name="Google Shape;640;p49"/>
          <p:cNvSpPr txBox="1"/>
          <p:nvPr/>
        </p:nvSpPr>
        <p:spPr>
          <a:xfrm>
            <a:off x="2632320" y="485313"/>
            <a:ext cx="431793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IN" sz="3600" b="0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Home work</a:t>
            </a:r>
            <a:endParaRPr sz="2400" b="0" i="0" u="none" strike="noStrike" cap="non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49"/>
          <p:cNvSpPr txBox="1"/>
          <p:nvPr/>
        </p:nvSpPr>
        <p:spPr>
          <a:xfrm>
            <a:off x="874200" y="1607606"/>
            <a:ext cx="759660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50"/>
          <p:cNvPicPr preferRelativeResize="0"/>
          <p:nvPr/>
        </p:nvPicPr>
        <p:blipFill rotWithShape="1">
          <a:blip r:embed="rId3">
            <a:alphaModFix/>
          </a:blip>
          <a:srcRect l="23738" r="14760"/>
          <a:stretch/>
        </p:blipFill>
        <p:spPr>
          <a:xfrm>
            <a:off x="680406" y="1320324"/>
            <a:ext cx="4217350" cy="4217352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647" name="Google Shape;647;p50"/>
          <p:cNvPicPr preferRelativeResize="0"/>
          <p:nvPr/>
        </p:nvPicPr>
        <p:blipFill rotWithShape="1">
          <a:blip r:embed="rId4">
            <a:alphaModFix/>
          </a:blip>
          <a:srcRect l="11092" r="13906" b="-2"/>
          <a:stretch/>
        </p:blipFill>
        <p:spPr>
          <a:xfrm>
            <a:off x="4692651" y="1574959"/>
            <a:ext cx="3708080" cy="3708083"/>
          </a:xfrm>
          <a:custGeom>
            <a:avLst/>
            <a:gdLst/>
            <a:ahLst/>
            <a:cxnLst/>
            <a:rect l="l" t="t" r="r" b="b"/>
            <a:pathLst>
              <a:path w="4627646" h="4627648" extrusionOk="0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1123</Words>
  <Application>Microsoft Office PowerPoint</Application>
  <PresentationFormat>On-screen Show (4:3)</PresentationFormat>
  <Paragraphs>234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Calibri</vt:lpstr>
      <vt:lpstr>Roboto</vt:lpstr>
      <vt:lpstr>Libre Baskerville</vt:lpstr>
      <vt:lpstr>Lora</vt:lpstr>
      <vt:lpstr>Alfa Slab One</vt:lpstr>
      <vt:lpstr>Arial</vt:lpstr>
      <vt:lpstr>Office Theme</vt:lpstr>
      <vt:lpstr>PowerPoint Presentation</vt:lpstr>
      <vt:lpstr>Introduction to  MS Excel</vt:lpstr>
      <vt:lpstr>Why Excel Program?</vt:lpstr>
      <vt:lpstr>Excel Workbook</vt:lpstr>
      <vt:lpstr>PowerPoint Presentation</vt:lpstr>
      <vt:lpstr>Norms for the session</vt:lpstr>
      <vt:lpstr>Getting started with Excel  </vt:lpstr>
      <vt:lpstr>PowerPoint Presentation</vt:lpstr>
      <vt:lpstr>Excel Interface</vt:lpstr>
      <vt:lpstr>PowerPoint Presentation</vt:lpstr>
      <vt:lpstr>PowerPoint Presentation</vt:lpstr>
      <vt:lpstr>     Save the workbook – Save &amp; Save As from File Tab.   Save – To store the current open workbook as a file. If the file has not been saved yet, prompts for a filename. Same as Quick Save. Crtl+S. Save As – To store the current open workbook with a new name or location.  File Extension (basic) - .xls or .xlsx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Shaziya Sultana</cp:lastModifiedBy>
  <cp:revision>2</cp:revision>
  <dcterms:modified xsi:type="dcterms:W3CDTF">2022-12-09T11:02:15Z</dcterms:modified>
</cp:coreProperties>
</file>